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5240000" cy="85725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/>
    <p:restoredTop sz="71422"/>
  </p:normalViewPr>
  <p:slideViewPr>
    <p:cSldViewPr snapToGrid="0">
      <p:cViewPr varScale="1">
        <p:scale>
          <a:sx n="101" d="100"/>
          <a:sy n="101" d="100"/>
        </p:scale>
        <p:origin x="2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6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Complete the five core slides for your team’s Flow.</a:t>
            </a:r>
          </a:p>
          <a:p>
            <a:r>
              <a:rPr dirty="0"/>
              <a:t>Use the optional appendices when needed.</a:t>
            </a:r>
          </a:p>
          <a:p>
            <a:r>
              <a:rPr dirty="0"/>
              <a:t>Core template: slides 2–6. Optional appendices: slides 7–8.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fictional Training Request Router case to guide your answers.</a:t>
            </a:r>
          </a:p>
          <a:p>
            <a:r>
              <a:t>All names, dates and results are invented and illustrative.</a:t>
            </a:r>
          </a:p>
          <a:p>
            <a:r>
              <a:t>Slides 10–14 use the same fields, tables and answer areas as the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070B5-767E-46A1-6994-B54071532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F7D64-6290-D7B3-D949-9E04BAEE0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4DB67-7081-786B-F2CA-1A75C4A4A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8E55F-8064-C62D-F4A8-C284E753A6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208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51BB804-F189-4EB1-B1EA-7E8BD2C4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AEC2C46-B176-47AB-B5E3-1BC8B3203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8E9CC0F-04A1-4B82-B755-6DCDBBDB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ACCC05B-AE8A-4E4F-A8B9-C3CBC0A3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B71584A-EED4-4FD0-8813-807653BF4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243D08D-ADBB-4A77-8898-701779876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5EEF719-9C2B-4FC1-8416-D59632ED1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797893E-E5D9-47DC-88E1-6B7D09802A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D691EB5-4B6C-42C4-A3D3-441B6AE27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22CA426-6EC3-42DE-98DE-45912B8F1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5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TCH 2 OPERATIONS">
            <a:extLst>
              <a:ext uri="{FF2B5EF4-FFF2-40B4-BE49-F238E27FC236}">
                <a16:creationId xmlns:a16="http://schemas.microsoft.com/office/drawing/2014/main" id="{689A01D2-766C-454C-A3DB-9DD288AF5270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371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rPr>
              <a:t>BATCH 2 OPERATIONS</a:t>
            </a:r>
          </a:p>
        </p:txBody>
      </p:sp>
      <p:sp>
        <p:nvSpPr>
          <p:cNvPr id="2" name="Project Refinement —&#10;Your Team Template">
            <a:extLst>
              <a:ext uri="{FF2B5EF4-FFF2-40B4-BE49-F238E27FC236}">
                <a16:creationId xmlns:a16="http://schemas.microsoft.com/office/drawing/2014/main" id="{133DD197-EB0F-4119-A915-880CE1C90263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3716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rPr>
              <a:t>Project Refinement —</a:t>
            </a:r>
          </a:p>
          <a:p>
            <a:pPr>
              <a:def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rPr>
              <a:t>Your Team Template</a:t>
            </a:r>
          </a:p>
        </p:txBody>
      </p:sp>
      <p:sp>
        <p:nvSpPr>
          <p:cNvPr id="3" name="Complete the five core slides for your team’s Flow.&#10;Use the optio">
            <a:extLst>
              <a:ext uri="{FF2B5EF4-FFF2-40B4-BE49-F238E27FC236}">
                <a16:creationId xmlns:a16="http://schemas.microsoft.com/office/drawing/2014/main" id="{10995FE0-68D5-4FC6-AB9E-A4313557E77B}"/>
              </a:ext>
            </a:extLst>
          </p:cNvPr>
          <p:cNvSpPr>
            <a:spLocks noGrp="1"/>
          </p:cNvSpPr>
          <p:nvPr/>
        </p:nvSpPr>
        <p:spPr>
          <a:xfrm>
            <a:off x="762000" y="4695825"/>
            <a:ext cx="13144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23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Complete the </a:t>
            </a:r>
            <a:r>
              <a:rPr lang="en-US" sz="2325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  <a:r>
              <a:rPr sz="2325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core slides for your team’s Flow.</a:t>
            </a:r>
          </a:p>
          <a:p>
            <a:pPr>
              <a:defRPr sz="23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the optional appendices when needed.</a:t>
            </a:r>
          </a:p>
        </p:txBody>
      </p:sp>
      <p:sp>
        <p:nvSpPr>
          <p:cNvPr id="4" name="Core template: slides 2–6. Optional appendices: slides 7–8.">
            <a:extLst>
              <a:ext uri="{FF2B5EF4-FFF2-40B4-BE49-F238E27FC236}">
                <a16:creationId xmlns:a16="http://schemas.microsoft.com/office/drawing/2014/main" id="{9AF29B93-669A-47AE-BFF5-4D0CF85A7B8E}"/>
              </a:ext>
            </a:extLst>
          </p:cNvPr>
          <p:cNvSpPr>
            <a:spLocks noGrp="1"/>
          </p:cNvSpPr>
          <p:nvPr/>
        </p:nvSpPr>
        <p:spPr>
          <a:xfrm>
            <a:off x="762000" y="6715125"/>
            <a:ext cx="13144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8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Core template: slides 2–6</a:t>
            </a:r>
            <a:r>
              <a:rPr lang="en-TH" sz="18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. </a:t>
            </a:r>
            <a:r>
              <a:rPr sz="1800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appendices: slides 7–8</a:t>
            </a:r>
            <a:r>
              <a:rPr lang="en-US" sz="18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18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Teams can duplicate and extend template slides No. 3 and No. 5 as needed</a:t>
            </a:r>
            <a:r>
              <a:rPr sz="1800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F1AE1325-F8F8-4C89-998E-CF7946969602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4720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AM TEMPLATE   1 / 5">
            <a:extLst>
              <a:ext uri="{FF2B5EF4-FFF2-40B4-BE49-F238E27FC236}">
                <a16:creationId xmlns:a16="http://schemas.microsoft.com/office/drawing/2014/main" id="{A54BE94E-3966-476C-832D-258AA5BF623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TEAM TEMPLATE   1 / 5</a:t>
            </a:r>
          </a:p>
        </p:txBody>
      </p:sp>
      <p:sp>
        <p:nvSpPr>
          <p:cNvPr id="2" name="Our Project &amp; Team">
            <a:extLst>
              <a:ext uri="{FF2B5EF4-FFF2-40B4-BE49-F238E27FC236}">
                <a16:creationId xmlns:a16="http://schemas.microsoft.com/office/drawing/2014/main" id="{A306BC1D-F648-4240-AA12-DDF2F73A692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Our Project &amp; Team</a:t>
            </a:r>
          </a:p>
        </p:txBody>
      </p:sp>
      <p:sp>
        <p:nvSpPr>
          <p:cNvPr id="3" name="One team, one main Flow. Short answers are enough. An unfinished ">
            <a:extLst>
              <a:ext uri="{FF2B5EF4-FFF2-40B4-BE49-F238E27FC236}">
                <a16:creationId xmlns:a16="http://schemas.microsoft.com/office/drawing/2014/main" id="{E06ADDE5-1E0D-4A8B-990E-768AB2364A0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One team, one main Flow. Short answers are enough. An unfinished Flow is welcome.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29A6B30D-1881-4397-9083-65729087692B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7E7B621B-5098-4AC2-BA77-E323AB295AD7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6" name="Project title / Flow name">
            <a:extLst>
              <a:ext uri="{FF2B5EF4-FFF2-40B4-BE49-F238E27FC236}">
                <a16:creationId xmlns:a16="http://schemas.microsoft.com/office/drawing/2014/main" id="{F068A8EE-7709-40B3-B18D-3DF8B525B973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Project title / Flow name</a:t>
            </a:r>
          </a:p>
        </p:txBody>
      </p:sp>
      <p:sp>
        <p:nvSpPr>
          <p:cNvPr id="7" name="[Project title] / [Flow name or Not created yet]">
            <a:extLst>
              <a:ext uri="{FF2B5EF4-FFF2-40B4-BE49-F238E27FC236}">
                <a16:creationId xmlns:a16="http://schemas.microsoft.com/office/drawing/2014/main" id="{0BCF5B7E-9849-4BE9-9092-41782EAABAAB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762750" cy="7048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[Project title] / [Flow name or Not created yet]</a:t>
            </a:r>
          </a:p>
        </p:txBody>
      </p:sp>
      <p:sp>
        <p:nvSpPr>
          <p:cNvPr id="8" name="Team / department and last updated">
            <a:extLst>
              <a:ext uri="{FF2B5EF4-FFF2-40B4-BE49-F238E27FC236}">
                <a16:creationId xmlns:a16="http://schemas.microsoft.com/office/drawing/2014/main" id="{3D032CE3-2D0B-481C-BDD2-47D19333A5D2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Team / department and last updated</a:t>
            </a:r>
          </a:p>
        </p:txBody>
      </p:sp>
      <p:sp>
        <p:nvSpPr>
          <p:cNvPr id="9" name="[Team / department]    [Date]">
            <a:extLst>
              <a:ext uri="{FF2B5EF4-FFF2-40B4-BE49-F238E27FC236}">
                <a16:creationId xmlns:a16="http://schemas.microsoft.com/office/drawing/2014/main" id="{E7B69E4B-3E31-46B8-8596-F4AABD7917C4}"/>
              </a:ext>
            </a:extLst>
          </p:cNvPr>
          <p:cNvSpPr>
            <a:spLocks noGrp="1"/>
          </p:cNvSpPr>
          <p:nvPr/>
        </p:nvSpPr>
        <p:spPr>
          <a:xfrm>
            <a:off x="7677150" y="2352675"/>
            <a:ext cx="6953250" cy="7048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[Team / department]    [Date]</a:t>
            </a:r>
          </a:p>
        </p:txBody>
      </p:sp>
      <p:sp>
        <p:nvSpPr>
          <p:cNvPr id="10" name="Members and roles">
            <a:extLst>
              <a:ext uri="{FF2B5EF4-FFF2-40B4-BE49-F238E27FC236}">
                <a16:creationId xmlns:a16="http://schemas.microsoft.com/office/drawing/2014/main" id="{A7B5DAE8-86A4-45FF-95FF-49467571A48D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Members and roles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CEA170-311B-4DD9-8E33-6E575338D5F4}"/>
              </a:ext>
            </a:extLst>
          </p:cNvPr>
          <p:cNvGraphicFramePr/>
          <p:nvPr/>
        </p:nvGraphicFramePr>
        <p:xfrm>
          <a:off x="609600" y="3657600"/>
          <a:ext cx="14020800" cy="20955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Member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Role (mark builder / contact)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Built or tested which part?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[Name]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[Role]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[Part]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[Name]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[Role]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[Part]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[Name]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[Role]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[Part]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Current status (replace with one choice below)">
            <a:extLst>
              <a:ext uri="{FF2B5EF4-FFF2-40B4-BE49-F238E27FC236}">
                <a16:creationId xmlns:a16="http://schemas.microsoft.com/office/drawing/2014/main" id="{A619AFF6-75CF-493D-AB7C-E2344971BBCE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Current status (replace with one choice below)</a:t>
            </a:r>
          </a:p>
        </p:txBody>
      </p:sp>
      <p:sp>
        <p:nvSpPr>
          <p:cNvPr id="13" name="[Select one status]">
            <a:extLst>
              <a:ext uri="{FF2B5EF4-FFF2-40B4-BE49-F238E27FC236}">
                <a16:creationId xmlns:a16="http://schemas.microsoft.com/office/drawing/2014/main" id="{7200022F-9878-4A3B-A956-B98E06B32A0E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6762750" cy="6858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[Select one status]</a:t>
            </a:r>
          </a:p>
        </p:txBody>
      </p:sp>
      <p:sp>
        <p:nvSpPr>
          <p:cNvPr id="14" name="Main support need in one sentence">
            <a:extLst>
              <a:ext uri="{FF2B5EF4-FFF2-40B4-BE49-F238E27FC236}">
                <a16:creationId xmlns:a16="http://schemas.microsoft.com/office/drawing/2014/main" id="{B7BA6AE5-1D5C-4A3C-88EF-7A742E13B34B}"/>
              </a:ext>
            </a:extLst>
          </p:cNvPr>
          <p:cNvSpPr>
            <a:spLocks noGrp="1"/>
          </p:cNvSpPr>
          <p:nvPr/>
        </p:nvSpPr>
        <p:spPr>
          <a:xfrm>
            <a:off x="7677150" y="59721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Main support need in one sentence</a:t>
            </a:r>
          </a:p>
        </p:txBody>
      </p:sp>
      <p:sp>
        <p:nvSpPr>
          <p:cNvPr id="15" name="[Type here]">
            <a:extLst>
              <a:ext uri="{FF2B5EF4-FFF2-40B4-BE49-F238E27FC236}">
                <a16:creationId xmlns:a16="http://schemas.microsoft.com/office/drawing/2014/main" id="{AA56F87D-ABCD-4C3B-A74F-9788282938D8}"/>
              </a:ext>
            </a:extLst>
          </p:cNvPr>
          <p:cNvSpPr>
            <a:spLocks noGrp="1"/>
          </p:cNvSpPr>
          <p:nvPr/>
        </p:nvSpPr>
        <p:spPr>
          <a:xfrm>
            <a:off x="7677150" y="6315075"/>
            <a:ext cx="6953250" cy="6858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[Type here]</a:t>
            </a:r>
          </a:p>
        </p:txBody>
      </p:sp>
      <p:sp>
        <p:nvSpPr>
          <p:cNvPr id="16" name="Status choices: Not started / Design only / Partly built / Built ">
            <a:extLst>
              <a:ext uri="{FF2B5EF4-FFF2-40B4-BE49-F238E27FC236}">
                <a16:creationId xmlns:a16="http://schemas.microsoft.com/office/drawing/2014/main" id="{B46117F8-E234-4E45-BFD0-60A749EA99B4}"/>
              </a:ext>
            </a:extLst>
          </p:cNvPr>
          <p:cNvSpPr>
            <a:spLocks noGrp="1"/>
          </p:cNvSpPr>
          <p:nvPr/>
        </p:nvSpPr>
        <p:spPr>
          <a:xfrm>
            <a:off x="609600" y="7115175"/>
            <a:ext cx="14020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Status choices: Not started / Design only / Partly built / Built but not tested /</a:t>
            </a:r>
          </a:p>
          <a:p>
            <a:pPr>
              <a:def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Tested with issues / Tested successfully for stated cases</a:t>
            </a:r>
          </a:p>
        </p:txBody>
      </p:sp>
      <p:sp>
        <p:nvSpPr>
          <p:cNvPr id="17" name="Use synthetic or approved information. Remove sensitive details a">
            <a:extLst>
              <a:ext uri="{FF2B5EF4-FFF2-40B4-BE49-F238E27FC236}">
                <a16:creationId xmlns:a16="http://schemas.microsoft.com/office/drawing/2014/main" id="{68E47AFE-A37B-42AC-B2CC-0CF4A5F63122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Use synthetic or approved information. Remove sensitive details and credentials. See Notes for completion guidance.</a:t>
            </a:r>
          </a:p>
        </p:txBody>
      </p:sp>
    </p:spTree>
    <p:extLst>
      <p:ext uri="{BB962C8B-B14F-4D97-AF65-F5344CB8AC3E}">
        <p14:creationId xmlns:p14="http://schemas.microsoft.com/office/powerpoint/2010/main" val="82144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AM TEMPLATE   2 / 5">
            <a:extLst>
              <a:ext uri="{FF2B5EF4-FFF2-40B4-BE49-F238E27FC236}">
                <a16:creationId xmlns:a16="http://schemas.microsoft.com/office/drawing/2014/main" id="{5D64CF18-8209-4DDE-AD81-9FAF88847C8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TEAM TEMPLATE   2 / 5</a:t>
            </a:r>
          </a:p>
        </p:txBody>
      </p:sp>
      <p:sp>
        <p:nvSpPr>
          <p:cNvPr id="2" name="The Problem &amp; Expected Outcome">
            <a:extLst>
              <a:ext uri="{FF2B5EF4-FFF2-40B4-BE49-F238E27FC236}">
                <a16:creationId xmlns:a16="http://schemas.microsoft.com/office/drawing/2014/main" id="{A54991AB-D8B5-4AB1-92EC-81509572234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The Problem &amp; Expected Outcome</a:t>
            </a:r>
          </a:p>
        </p:txBody>
      </p:sp>
      <p:sp>
        <p:nvSpPr>
          <p:cNvPr id="3" name="What work should this Flow improve, and what would a correct resu">
            <a:extLst>
              <a:ext uri="{FF2B5EF4-FFF2-40B4-BE49-F238E27FC236}">
                <a16:creationId xmlns:a16="http://schemas.microsoft.com/office/drawing/2014/main" id="{813465AC-4788-4EA0-A282-04599BDE9A0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What work should this Flow improve, and what would a correct result look like?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BADF88BA-DA8C-4FE1-B973-2995A50CA52F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A534258C-56DF-4FC7-80C6-02ADC53D5B0D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6" name="Current task and people involved">
            <a:extLst>
              <a:ext uri="{FF2B5EF4-FFF2-40B4-BE49-F238E27FC236}">
                <a16:creationId xmlns:a16="http://schemas.microsoft.com/office/drawing/2014/main" id="{21C71F8C-1FEC-45B1-BE48-AB17ECA8704A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Current task and people involved</a:t>
            </a:r>
          </a:p>
        </p:txBody>
      </p:sp>
      <p:sp>
        <p:nvSpPr>
          <p:cNvPr id="7" name="[What happens today? Which roles take part?]">
            <a:extLst>
              <a:ext uri="{FF2B5EF4-FFF2-40B4-BE49-F238E27FC236}">
                <a16:creationId xmlns:a16="http://schemas.microsoft.com/office/drawing/2014/main" id="{86CAB14F-6229-4179-B25C-A11544CF730E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762750" cy="12001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[What happens today? Which roles take part?]</a:t>
            </a:r>
          </a:p>
        </p:txBody>
      </p:sp>
      <p:sp>
        <p:nvSpPr>
          <p:cNvPr id="8" name="Main pain point and reason for choosing it">
            <a:extLst>
              <a:ext uri="{FF2B5EF4-FFF2-40B4-BE49-F238E27FC236}">
                <a16:creationId xmlns:a16="http://schemas.microsoft.com/office/drawing/2014/main" id="{32143BB0-963F-48A5-8259-BC38A1094057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Main pain point and reason for choosing it</a:t>
            </a:r>
          </a:p>
        </p:txBody>
      </p:sp>
      <p:sp>
        <p:nvSpPr>
          <p:cNvPr id="9" name="[What causes difficulty, and why does it matter?]">
            <a:extLst>
              <a:ext uri="{FF2B5EF4-FFF2-40B4-BE49-F238E27FC236}">
                <a16:creationId xmlns:a16="http://schemas.microsoft.com/office/drawing/2014/main" id="{A28D3F6A-039E-4ECD-BA20-BB5658A97AAD}"/>
              </a:ext>
            </a:extLst>
          </p:cNvPr>
          <p:cNvSpPr>
            <a:spLocks noGrp="1"/>
          </p:cNvSpPr>
          <p:nvPr/>
        </p:nvSpPr>
        <p:spPr>
          <a:xfrm>
            <a:off x="7677150" y="2352675"/>
            <a:ext cx="6953250" cy="12001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[What causes difficulty, and why does it matter?]</a:t>
            </a:r>
          </a:p>
        </p:txBody>
      </p:sp>
      <p:sp>
        <p:nvSpPr>
          <p:cNvPr id="10" name="Flow boundary">
            <a:extLst>
              <a:ext uri="{FF2B5EF4-FFF2-40B4-BE49-F238E27FC236}">
                <a16:creationId xmlns:a16="http://schemas.microsoft.com/office/drawing/2014/main" id="{8AAAF7C6-CEFF-4E7E-8B81-1A158399C6CE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Flow boundary</a:t>
            </a:r>
          </a:p>
        </p:txBody>
      </p:sp>
      <p:sp>
        <p:nvSpPr>
          <p:cNvPr id="11" name="Starts when: [ ]&#10;Ends when: [ ]&#10;Work that stays manual: [ ]">
            <a:extLst>
              <a:ext uri="{FF2B5EF4-FFF2-40B4-BE49-F238E27FC236}">
                <a16:creationId xmlns:a16="http://schemas.microsoft.com/office/drawing/2014/main" id="{F7E19047-0888-416B-B62F-80A4D0E95342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6762750" cy="14192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Starts when: [ 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Ends when: [ 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Work that stays manual: [ ]</a:t>
            </a:r>
          </a:p>
        </p:txBody>
      </p:sp>
      <p:sp>
        <p:nvSpPr>
          <p:cNvPr id="12" name="Expected outcome">
            <a:extLst>
              <a:ext uri="{FF2B5EF4-FFF2-40B4-BE49-F238E27FC236}">
                <a16:creationId xmlns:a16="http://schemas.microsoft.com/office/drawing/2014/main" id="{9C8F6CAF-6C45-461E-A7EB-4A730BC7C2CE}"/>
              </a:ext>
            </a:extLst>
          </p:cNvPr>
          <p:cNvSpPr>
            <a:spLocks noGrp="1"/>
          </p:cNvSpPr>
          <p:nvPr/>
        </p:nvSpPr>
        <p:spPr>
          <a:xfrm>
            <a:off x="7677150" y="3752850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Expected outcome</a:t>
            </a:r>
          </a:p>
        </p:txBody>
      </p:sp>
      <p:sp>
        <p:nvSpPr>
          <p:cNvPr id="13" name="[What output should the Flow create, and for which role?]">
            <a:extLst>
              <a:ext uri="{FF2B5EF4-FFF2-40B4-BE49-F238E27FC236}">
                <a16:creationId xmlns:a16="http://schemas.microsoft.com/office/drawing/2014/main" id="{66B93EE4-1700-44E7-8A22-27081090DBF7}"/>
              </a:ext>
            </a:extLst>
          </p:cNvPr>
          <p:cNvSpPr>
            <a:spLocks noGrp="1"/>
          </p:cNvSpPr>
          <p:nvPr/>
        </p:nvSpPr>
        <p:spPr>
          <a:xfrm>
            <a:off x="7677150" y="4095750"/>
            <a:ext cx="6953250" cy="14192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[What output should the Flow create, and for which role?]</a:t>
            </a:r>
          </a:p>
        </p:txBody>
      </p:sp>
      <p:sp>
        <p:nvSpPr>
          <p:cNvPr id="14" name="Success criteria (1–3 observable checks)">
            <a:extLst>
              <a:ext uri="{FF2B5EF4-FFF2-40B4-BE49-F238E27FC236}">
                <a16:creationId xmlns:a16="http://schemas.microsoft.com/office/drawing/2014/main" id="{C0E4E2B7-4F0C-4698-A2A2-33C727B6F49B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Success criteria (1–3 observable checks)</a:t>
            </a:r>
          </a:p>
        </p:txBody>
      </p:sp>
      <p:sp>
        <p:nvSpPr>
          <p:cNvPr id="15" name="1. [Check]&#10;2. [Check]&#10;3. [Check, if needed]">
            <a:extLst>
              <a:ext uri="{FF2B5EF4-FFF2-40B4-BE49-F238E27FC236}">
                <a16:creationId xmlns:a16="http://schemas.microsoft.com/office/drawing/2014/main" id="{ECEB5484-BDE7-4625-A706-57E2165A4AFF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4020800" cy="12668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1. [Check]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2. [Check]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3. [Check, if needed]</a:t>
            </a:r>
          </a:p>
        </p:txBody>
      </p:sp>
      <p:sp>
        <p:nvSpPr>
          <p:cNvPr id="16" name="Optional in Notes: task frequency and manual effort. Label number">
            <a:extLst>
              <a:ext uri="{FF2B5EF4-FFF2-40B4-BE49-F238E27FC236}">
                <a16:creationId xmlns:a16="http://schemas.microsoft.com/office/drawing/2014/main" id="{A57B72BF-C225-4D5E-A9EB-1172E05EBB1B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Optional in Notes: task frequency and manual effort. Label numbers Observed, Estimated or Unknown, with their basis.</a:t>
            </a:r>
          </a:p>
        </p:txBody>
      </p:sp>
    </p:spTree>
    <p:extLst>
      <p:ext uri="{BB962C8B-B14F-4D97-AF65-F5344CB8AC3E}">
        <p14:creationId xmlns:p14="http://schemas.microsoft.com/office/powerpoint/2010/main" val="130993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AM TEMPLATE   3 / 5">
            <a:extLst>
              <a:ext uri="{FF2B5EF4-FFF2-40B4-BE49-F238E27FC236}">
                <a16:creationId xmlns:a16="http://schemas.microsoft.com/office/drawing/2014/main" id="{832237E6-4EFA-44D8-BBB1-FD8489AD2BC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TEAM TEMPLATE   3 / 5</a:t>
            </a:r>
          </a:p>
        </p:txBody>
      </p:sp>
      <p:sp>
        <p:nvSpPr>
          <p:cNvPr id="2" name="How Our Flow Works">
            <a:extLst>
              <a:ext uri="{FF2B5EF4-FFF2-40B4-BE49-F238E27FC236}">
                <a16:creationId xmlns:a16="http://schemas.microsoft.com/office/drawing/2014/main" id="{27D54D81-C4A6-43D4-A428-336D2A2185C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How Our Flow Works</a:t>
            </a:r>
            <a:r>
              <a:rPr lang="en-US"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 (N)</a:t>
            </a:r>
            <a:endParaRPr sz="3150" dirty="0">
              <a:solidFill>
                <a:srgbClr val="183549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" name="Show the route from input to output. Mark steps Built, Planned or">
            <a:extLst>
              <a:ext uri="{FF2B5EF4-FFF2-40B4-BE49-F238E27FC236}">
                <a16:creationId xmlns:a16="http://schemas.microsoft.com/office/drawing/2014/main" id="{9A7D180E-0F91-4974-957E-52739FE5FC6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Show the route from input to output. Mark steps Built, Planned or Blocked.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BA775BAC-DAC4-4F3B-BB16-DB6A890F1F5B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A5EA743A-39A4-4D6C-8947-34D328F8EE25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6" name="Flow diagram / readable screenshot">
            <a:extLst>
              <a:ext uri="{FF2B5EF4-FFF2-40B4-BE49-F238E27FC236}">
                <a16:creationId xmlns:a16="http://schemas.microsoft.com/office/drawing/2014/main" id="{D0AB6765-9561-4670-A927-D78B415F06FF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Flow diagram / readable screenshot</a:t>
            </a:r>
          </a:p>
        </p:txBody>
      </p:sp>
      <p:sp>
        <p:nvSpPr>
          <p:cNvPr id="7" name="[Replace this text with a diagram, sanitised screenshot,&#10;or numbe">
            <a:extLst>
              <a:ext uri="{FF2B5EF4-FFF2-40B4-BE49-F238E27FC236}">
                <a16:creationId xmlns:a16="http://schemas.microsoft.com/office/drawing/2014/main" id="{60DACE1C-01DE-450A-801A-C91B5885B1A7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8096250" cy="41338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[Replace this text with a diagram, sanitised screenshot,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or numbered steps. Include the Trigger and branches.]</a:t>
            </a:r>
          </a:p>
          <a:p>
            <a:endParaRPr sz="1725">
              <a:solidFill>
                <a:srgbClr val="586B78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[Put long Flow details in Appendix B.]</a:t>
            </a:r>
          </a:p>
        </p:txBody>
      </p:sp>
      <p:sp>
        <p:nvSpPr>
          <p:cNvPr id="8" name="Apps / connectors">
            <a:extLst>
              <a:ext uri="{FF2B5EF4-FFF2-40B4-BE49-F238E27FC236}">
                <a16:creationId xmlns:a16="http://schemas.microsoft.com/office/drawing/2014/main" id="{0B18E47E-D3F0-4B58-9E55-38F1F8A3DB8D}"/>
              </a:ext>
            </a:extLst>
          </p:cNvPr>
          <p:cNvSpPr>
            <a:spLocks noGrp="1"/>
          </p:cNvSpPr>
          <p:nvPr/>
        </p:nvSpPr>
        <p:spPr>
          <a:xfrm>
            <a:off x="9010650" y="20097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Apps / connectors</a:t>
            </a:r>
          </a:p>
        </p:txBody>
      </p:sp>
      <p:sp>
        <p:nvSpPr>
          <p:cNvPr id="9" name="[Exact names if known, or Name to confirm]">
            <a:extLst>
              <a:ext uri="{FF2B5EF4-FFF2-40B4-BE49-F238E27FC236}">
                <a16:creationId xmlns:a16="http://schemas.microsoft.com/office/drawing/2014/main" id="{A212FB7F-8445-4000-B088-3F2B01C459C3}"/>
              </a:ext>
            </a:extLst>
          </p:cNvPr>
          <p:cNvSpPr>
            <a:spLocks noGrp="1"/>
          </p:cNvSpPr>
          <p:nvPr/>
        </p:nvSpPr>
        <p:spPr>
          <a:xfrm>
            <a:off x="9010650" y="2352675"/>
            <a:ext cx="5619750" cy="8572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[Exact names if known, or Name to confirm]</a:t>
            </a:r>
          </a:p>
        </p:txBody>
      </p:sp>
      <p:sp>
        <p:nvSpPr>
          <p:cNvPr id="10" name="Input and source">
            <a:extLst>
              <a:ext uri="{FF2B5EF4-FFF2-40B4-BE49-F238E27FC236}">
                <a16:creationId xmlns:a16="http://schemas.microsoft.com/office/drawing/2014/main" id="{3E842D97-91BA-4917-AF18-71F0E167C783}"/>
              </a:ext>
            </a:extLst>
          </p:cNvPr>
          <p:cNvSpPr>
            <a:spLocks noGrp="1"/>
          </p:cNvSpPr>
          <p:nvPr/>
        </p:nvSpPr>
        <p:spPr>
          <a:xfrm>
            <a:off x="9010650" y="33813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Input and source</a:t>
            </a:r>
          </a:p>
        </p:txBody>
      </p:sp>
      <p:sp>
        <p:nvSpPr>
          <p:cNvPr id="11" name="[Relevant fields, column names and formats]&#10;[Where does the input">
            <a:extLst>
              <a:ext uri="{FF2B5EF4-FFF2-40B4-BE49-F238E27FC236}">
                <a16:creationId xmlns:a16="http://schemas.microsoft.com/office/drawing/2014/main" id="{D0D68FFF-9DF7-4D1C-AEAB-AD6E80C9B2EC}"/>
              </a:ext>
            </a:extLst>
          </p:cNvPr>
          <p:cNvSpPr>
            <a:spLocks noGrp="1"/>
          </p:cNvSpPr>
          <p:nvPr/>
        </p:nvSpPr>
        <p:spPr>
          <a:xfrm>
            <a:off x="9010650" y="3724275"/>
            <a:ext cx="5619750" cy="11239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[Relevant fields, column names and formats]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[Where does the input come from?]</a:t>
            </a:r>
          </a:p>
        </p:txBody>
      </p:sp>
      <p:sp>
        <p:nvSpPr>
          <p:cNvPr id="12" name="Output and destination">
            <a:extLst>
              <a:ext uri="{FF2B5EF4-FFF2-40B4-BE49-F238E27FC236}">
                <a16:creationId xmlns:a16="http://schemas.microsoft.com/office/drawing/2014/main" id="{03332284-48A8-48DB-8D88-97A2189F2670}"/>
              </a:ext>
            </a:extLst>
          </p:cNvPr>
          <p:cNvSpPr>
            <a:spLocks noGrp="1"/>
          </p:cNvSpPr>
          <p:nvPr/>
        </p:nvSpPr>
        <p:spPr>
          <a:xfrm>
            <a:off x="9010650" y="50196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Output and destination</a:t>
            </a:r>
          </a:p>
        </p:txBody>
      </p:sp>
      <p:sp>
        <p:nvSpPr>
          <p:cNvPr id="13" name="[What is created, updated or sent?]&#10;[Where does it go? Use role a">
            <a:extLst>
              <a:ext uri="{FF2B5EF4-FFF2-40B4-BE49-F238E27FC236}">
                <a16:creationId xmlns:a16="http://schemas.microsoft.com/office/drawing/2014/main" id="{3F147D19-9D87-4899-A205-E01AED53F764}"/>
              </a:ext>
            </a:extLst>
          </p:cNvPr>
          <p:cNvSpPr>
            <a:spLocks noGrp="1"/>
          </p:cNvSpPr>
          <p:nvPr/>
        </p:nvSpPr>
        <p:spPr>
          <a:xfrm>
            <a:off x="9010650" y="5362575"/>
            <a:ext cx="5619750" cy="11239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[What is created, updated or sent?]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[Where does it go? Use role aliases.]</a:t>
            </a:r>
          </a:p>
        </p:txBody>
      </p:sp>
      <p:sp>
        <p:nvSpPr>
          <p:cNvPr id="14" name="Human decisions or checks">
            <a:extLst>
              <a:ext uri="{FF2B5EF4-FFF2-40B4-BE49-F238E27FC236}">
                <a16:creationId xmlns:a16="http://schemas.microsoft.com/office/drawing/2014/main" id="{9CAE7F45-4017-4332-AF8E-79431A11F6F2}"/>
              </a:ext>
            </a:extLst>
          </p:cNvPr>
          <p:cNvSpPr>
            <a:spLocks noGrp="1"/>
          </p:cNvSpPr>
          <p:nvPr/>
        </p:nvSpPr>
        <p:spPr>
          <a:xfrm>
            <a:off x="609600" y="667702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Human decisions or checks</a:t>
            </a:r>
          </a:p>
        </p:txBody>
      </p:sp>
      <p:sp>
        <p:nvSpPr>
          <p:cNvPr id="15" name="[Who checks or decides what? Use None in this small Flow if appro">
            <a:extLst>
              <a:ext uri="{FF2B5EF4-FFF2-40B4-BE49-F238E27FC236}">
                <a16:creationId xmlns:a16="http://schemas.microsoft.com/office/drawing/2014/main" id="{C4DEE964-5DA9-493F-A8FB-A173549AA408}"/>
              </a:ext>
            </a:extLst>
          </p:cNvPr>
          <p:cNvSpPr>
            <a:spLocks noGrp="1"/>
          </p:cNvSpPr>
          <p:nvPr/>
        </p:nvSpPr>
        <p:spPr>
          <a:xfrm>
            <a:off x="609600" y="7019925"/>
            <a:ext cx="14020800" cy="5905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[Who checks or decides what? Use None in this small Flow if appropriate.]</a:t>
            </a:r>
          </a:p>
        </p:txBody>
      </p:sp>
      <p:sp>
        <p:nvSpPr>
          <p:cNvPr id="16" name="Trigger: show what starts the Flow. A hand-drawn plan is valid ev">
            <a:extLst>
              <a:ext uri="{FF2B5EF4-FFF2-40B4-BE49-F238E27FC236}">
                <a16:creationId xmlns:a16="http://schemas.microsoft.com/office/drawing/2014/main" id="{0AE0D0C3-E17E-4225-93F5-3F7A7536CB23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Trigger: show what starts the Flow. A hand-drawn plan is valid even if you have not built it yet.</a:t>
            </a:r>
          </a:p>
        </p:txBody>
      </p:sp>
    </p:spTree>
    <p:extLst>
      <p:ext uri="{BB962C8B-B14F-4D97-AF65-F5344CB8AC3E}">
        <p14:creationId xmlns:p14="http://schemas.microsoft.com/office/powerpoint/2010/main" val="44003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AM TEMPLATE   4 / 5">
            <a:extLst>
              <a:ext uri="{FF2B5EF4-FFF2-40B4-BE49-F238E27FC236}">
                <a16:creationId xmlns:a16="http://schemas.microsoft.com/office/drawing/2014/main" id="{BE826822-E7BB-4062-BB36-5CC7F9D3188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TEAM TEMPLATE   4 / 5</a:t>
            </a:r>
          </a:p>
        </p:txBody>
      </p:sp>
      <p:sp>
        <p:nvSpPr>
          <p:cNvPr id="2" name="What We Built &amp; Tested">
            <a:extLst>
              <a:ext uri="{FF2B5EF4-FFF2-40B4-BE49-F238E27FC236}">
                <a16:creationId xmlns:a16="http://schemas.microsoft.com/office/drawing/2014/main" id="{83F4774C-9C7D-4B44-A33C-D722DA5618B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What We Built &amp; Tested</a:t>
            </a:r>
          </a:p>
        </p:txBody>
      </p:sp>
      <p:sp>
        <p:nvSpPr>
          <p:cNvPr id="3" name="Compare expected and actual results. A successful run can still p">
            <a:extLst>
              <a:ext uri="{FF2B5EF4-FFF2-40B4-BE49-F238E27FC236}">
                <a16:creationId xmlns:a16="http://schemas.microsoft.com/office/drawing/2014/main" id="{CE130C01-96E4-4594-945B-EAC43723519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Compare expected and actual results. A successful run can still produce the wrong output.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0F443C80-FBB3-43E3-9CDE-D4CD650AB431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366FB9B2-F71A-4EB7-9104-C858EABE1D61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6" name="Built so far / incomplete / last tested">
            <a:extLst>
              <a:ext uri="{FF2B5EF4-FFF2-40B4-BE49-F238E27FC236}">
                <a16:creationId xmlns:a16="http://schemas.microsoft.com/office/drawing/2014/main" id="{8EA655E0-7F83-462F-8A58-1F790E801E01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Built so far / incomplete / last tested</a:t>
            </a:r>
          </a:p>
        </p:txBody>
      </p:sp>
      <p:sp>
        <p:nvSpPr>
          <p:cNvPr id="7" name="Built: [ ]    Incomplete: [ ]    Last tested: [date or Not yet te">
            <a:extLst>
              <a:ext uri="{FF2B5EF4-FFF2-40B4-BE49-F238E27FC236}">
                <a16:creationId xmlns:a16="http://schemas.microsoft.com/office/drawing/2014/main" id="{0E6CD603-146A-481C-BCAA-BA9D1D423196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4020800" cy="7810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Built: [ ]    Incomplete: [ ]    Last tested: [date or Not yet tested]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8B2986-25C2-48C7-9E21-540480216A61}"/>
              </a:ext>
            </a:extLst>
          </p:cNvPr>
          <p:cNvGraphicFramePr/>
          <p:nvPr/>
        </p:nvGraphicFramePr>
        <p:xfrm>
          <a:off x="609600" y="3381375"/>
          <a:ext cx="14020800" cy="27432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Test / sample input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Expected result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Actual result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Run status / date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Evidence ref.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T01: [Input]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[Expected]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[Actual / Not yet tested]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[Status / date]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[E01 / None yet]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T02: [Input]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[Expected]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[Actual / Not yet tested]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[Status / date]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[E02 / None yet]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T03: [Optional]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[Expected]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[Actual / Not yet tested]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[Status / date]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[Reference]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What has not been tested yet?">
            <a:extLst>
              <a:ext uri="{FF2B5EF4-FFF2-40B4-BE49-F238E27FC236}">
                <a16:creationId xmlns:a16="http://schemas.microsoft.com/office/drawing/2014/main" id="{A6A06799-8514-413A-8690-4B44594FA2DA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What has not been tested yet?</a:t>
            </a:r>
          </a:p>
        </p:txBody>
      </p:sp>
      <p:sp>
        <p:nvSpPr>
          <p:cNvPr id="10" name="[Branches, input formats or access conditions not checked yet. If">
            <a:extLst>
              <a:ext uri="{FF2B5EF4-FFF2-40B4-BE49-F238E27FC236}">
                <a16:creationId xmlns:a16="http://schemas.microsoft.com/office/drawing/2014/main" id="{04219CF5-8E55-4ED0-B2B2-D2A77C04B068}"/>
              </a:ext>
            </a:extLst>
          </p:cNvPr>
          <p:cNvSpPr>
            <a:spLocks noGrp="1"/>
          </p:cNvSpPr>
          <p:nvPr/>
        </p:nvSpPr>
        <p:spPr>
          <a:xfrm>
            <a:off x="609600" y="6715125"/>
            <a:ext cx="14020800" cy="8477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[Branches, input formats or access conditions not checked yet. If no run exists, explain why.]</a:t>
            </a:r>
          </a:p>
        </p:txBody>
      </p:sp>
      <p:sp>
        <p:nvSpPr>
          <p:cNvPr id="11" name="Add labelled screenshots or output excerpts in Appendix B. Unknow">
            <a:extLst>
              <a:ext uri="{FF2B5EF4-FFF2-40B4-BE49-F238E27FC236}">
                <a16:creationId xmlns:a16="http://schemas.microsoft.com/office/drawing/2014/main" id="{7E4A7D33-29D5-48E7-BA4C-651E1508BAEB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Add labelled screenshots or output excerpts in Appendix B. Unknown and No evidence yet are valid responses.</a:t>
            </a:r>
          </a:p>
        </p:txBody>
      </p:sp>
    </p:spTree>
    <p:extLst>
      <p:ext uri="{BB962C8B-B14F-4D97-AF65-F5344CB8AC3E}">
        <p14:creationId xmlns:p14="http://schemas.microsoft.com/office/powerpoint/2010/main" val="101929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AM TEMPLATE   5 / 5">
            <a:extLst>
              <a:ext uri="{FF2B5EF4-FFF2-40B4-BE49-F238E27FC236}">
                <a16:creationId xmlns:a16="http://schemas.microsoft.com/office/drawing/2014/main" id="{29699D46-C68F-4C3E-ADAC-5A10615ED19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TEAM TEMPLATE   5 / 5</a:t>
            </a:r>
          </a:p>
        </p:txBody>
      </p:sp>
      <p:sp>
        <p:nvSpPr>
          <p:cNvPr id="2" name="Our Main Blocker">
            <a:extLst>
              <a:ext uri="{FF2B5EF4-FFF2-40B4-BE49-F238E27FC236}">
                <a16:creationId xmlns:a16="http://schemas.microsoft.com/office/drawing/2014/main" id="{1D27124C-9AB2-4933-A8CF-D6C5DBC5116E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Our Main Blocker</a:t>
            </a:r>
            <a:r>
              <a:rPr lang="en-US"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 (N)</a:t>
            </a:r>
          </a:p>
        </p:txBody>
      </p:sp>
      <p:sp>
        <p:nvSpPr>
          <p:cNvPr id="3" name="Describe one issue. If there is no blocker, describe a limitation">
            <a:extLst>
              <a:ext uri="{FF2B5EF4-FFF2-40B4-BE49-F238E27FC236}">
                <a16:creationId xmlns:a16="http://schemas.microsoft.com/office/drawing/2014/main" id="{9E28C4FC-93E7-4214-81DB-B978808D4A2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Describe one issue. If there is no blocker, describe a limitation or desired improvement.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3D95362A-B6D0-4C75-96C2-5862B1BA15C3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42A48DA5-3ECF-42AC-ABDF-6380B0189AF2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6" name="Blocker / improvement title">
            <a:extLst>
              <a:ext uri="{FF2B5EF4-FFF2-40B4-BE49-F238E27FC236}">
                <a16:creationId xmlns:a16="http://schemas.microsoft.com/office/drawing/2014/main" id="{E4BF42A1-966A-480A-94FA-5286E6123A6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Blocker / improvement title</a:t>
            </a:r>
          </a:p>
        </p:txBody>
      </p:sp>
      <p:sp>
        <p:nvSpPr>
          <p:cNvPr id="7" name="[Issue title or No current blocker]">
            <a:extLst>
              <a:ext uri="{FF2B5EF4-FFF2-40B4-BE49-F238E27FC236}">
                <a16:creationId xmlns:a16="http://schemas.microsoft.com/office/drawing/2014/main" id="{DA4F9F52-EF2B-4230-BF1D-F9B40C344DDF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762750" cy="6096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[Issue title or No current blocker]</a:t>
            </a:r>
          </a:p>
        </p:txBody>
      </p:sp>
      <p:sp>
        <p:nvSpPr>
          <p:cNvPr id="8" name="Exact location and impact">
            <a:extLst>
              <a:ext uri="{FF2B5EF4-FFF2-40B4-BE49-F238E27FC236}">
                <a16:creationId xmlns:a16="http://schemas.microsoft.com/office/drawing/2014/main" id="{2EAE6086-BE30-448E-967A-C63F6E534F84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Exact location and impact</a:t>
            </a:r>
          </a:p>
        </p:txBody>
      </p:sp>
      <p:sp>
        <p:nvSpPr>
          <p:cNvPr id="9" name="[Step / Action / branch]    [What cannot proceed?]">
            <a:extLst>
              <a:ext uri="{FF2B5EF4-FFF2-40B4-BE49-F238E27FC236}">
                <a16:creationId xmlns:a16="http://schemas.microsoft.com/office/drawing/2014/main" id="{A48D8BAE-ABB6-422E-94B1-E115655F42F1}"/>
              </a:ext>
            </a:extLst>
          </p:cNvPr>
          <p:cNvSpPr>
            <a:spLocks noGrp="1"/>
          </p:cNvSpPr>
          <p:nvPr/>
        </p:nvSpPr>
        <p:spPr>
          <a:xfrm>
            <a:off x="7677150" y="2352675"/>
            <a:ext cx="6953250" cy="6096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[Step / Action / branch]    [What cannot proceed?]</a:t>
            </a:r>
          </a:p>
        </p:txBody>
      </p:sp>
      <p:sp>
        <p:nvSpPr>
          <p:cNvPr id="10" name="Reproduction steps and frequency">
            <a:extLst>
              <a:ext uri="{FF2B5EF4-FFF2-40B4-BE49-F238E27FC236}">
                <a16:creationId xmlns:a16="http://schemas.microsoft.com/office/drawing/2014/main" id="{3359388A-B939-4E95-B732-99051FB10E44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Reproduction steps and frequency</a:t>
            </a:r>
          </a:p>
        </p:txBody>
      </p:sp>
      <p:sp>
        <p:nvSpPr>
          <p:cNvPr id="11" name="1. [Step and synthetic input]&#10;2. [Step]&#10;Frequency: [Every time / ">
            <a:extLst>
              <a:ext uri="{FF2B5EF4-FFF2-40B4-BE49-F238E27FC236}">
                <a16:creationId xmlns:a16="http://schemas.microsoft.com/office/drawing/2014/main" id="{B57367D2-7267-4C51-B232-7C7008B842D7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6762750" cy="16764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1. [Step and synthetic input]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2. [Step]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Frequency: [Every time / Sometimes / Once / Unknown]</a:t>
            </a:r>
          </a:p>
        </p:txBody>
      </p:sp>
      <p:sp>
        <p:nvSpPr>
          <p:cNvPr id="12" name="Expected versus actual">
            <a:extLst>
              <a:ext uri="{FF2B5EF4-FFF2-40B4-BE49-F238E27FC236}">
                <a16:creationId xmlns:a16="http://schemas.microsoft.com/office/drawing/2014/main" id="{DB4C25AF-362D-4EF3-BC8E-359D37C2551B}"/>
              </a:ext>
            </a:extLst>
          </p:cNvPr>
          <p:cNvSpPr>
            <a:spLocks noGrp="1"/>
          </p:cNvSpPr>
          <p:nvPr/>
        </p:nvSpPr>
        <p:spPr>
          <a:xfrm>
            <a:off x="7677150" y="3143250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Expected versus actual</a:t>
            </a:r>
          </a:p>
        </p:txBody>
      </p:sp>
      <p:sp>
        <p:nvSpPr>
          <p:cNvPr id="13" name="[Related test ID]    Expected: [ ]    Actual: [ ]">
            <a:extLst>
              <a:ext uri="{FF2B5EF4-FFF2-40B4-BE49-F238E27FC236}">
                <a16:creationId xmlns:a16="http://schemas.microsoft.com/office/drawing/2014/main" id="{B3FF5858-B711-4820-9A6B-D02F899798E6}"/>
              </a:ext>
            </a:extLst>
          </p:cNvPr>
          <p:cNvSpPr>
            <a:spLocks noGrp="1"/>
          </p:cNvSpPr>
          <p:nvPr/>
        </p:nvSpPr>
        <p:spPr>
          <a:xfrm>
            <a:off x="7677150" y="3486150"/>
            <a:ext cx="6953250" cy="5905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[Related test ID]    Expected: [ ]    Actual: [ ]</a:t>
            </a:r>
          </a:p>
        </p:txBody>
      </p:sp>
      <p:sp>
        <p:nvSpPr>
          <p:cNvPr id="14" name="Error text or symptom">
            <a:extLst>
              <a:ext uri="{FF2B5EF4-FFF2-40B4-BE49-F238E27FC236}">
                <a16:creationId xmlns:a16="http://schemas.microsoft.com/office/drawing/2014/main" id="{B896A85D-F097-4C11-A005-6FF0EA6668AD}"/>
              </a:ext>
            </a:extLst>
          </p:cNvPr>
          <p:cNvSpPr>
            <a:spLocks noGrp="1"/>
          </p:cNvSpPr>
          <p:nvPr/>
        </p:nvSpPr>
        <p:spPr>
          <a:xfrm>
            <a:off x="7677150" y="4267200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Error text or symptom</a:t>
            </a:r>
          </a:p>
        </p:txBody>
      </p:sp>
      <p:sp>
        <p:nvSpPr>
          <p:cNvPr id="15" name="[Relevant sanitised message, or describe the symptom]">
            <a:extLst>
              <a:ext uri="{FF2B5EF4-FFF2-40B4-BE49-F238E27FC236}">
                <a16:creationId xmlns:a16="http://schemas.microsoft.com/office/drawing/2014/main" id="{101FB19D-A98B-4AC8-A4D4-D4D577FD8AFC}"/>
              </a:ext>
            </a:extLst>
          </p:cNvPr>
          <p:cNvSpPr>
            <a:spLocks noGrp="1"/>
          </p:cNvSpPr>
          <p:nvPr/>
        </p:nvSpPr>
        <p:spPr>
          <a:xfrm>
            <a:off x="7677150" y="4610100"/>
            <a:ext cx="6953250" cy="101917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[Relevant sanitised message, or describe the symptom]</a:t>
            </a:r>
          </a:p>
        </p:txBody>
      </p:sp>
      <p:sp>
        <p:nvSpPr>
          <p:cNvPr id="16" name="Fixes attempted and results">
            <a:extLst>
              <a:ext uri="{FF2B5EF4-FFF2-40B4-BE49-F238E27FC236}">
                <a16:creationId xmlns:a16="http://schemas.microsoft.com/office/drawing/2014/main" id="{630DABE5-F9C9-4F2B-A5D6-5F8FE6727F01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Fixes attempted and results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650B6A0-5569-44F1-BAA2-3242FFCD8253}"/>
              </a:ext>
            </a:extLst>
          </p:cNvPr>
          <p:cNvGraphicFramePr/>
          <p:nvPr/>
        </p:nvGraphicFramePr>
        <p:xfrm>
          <a:off x="609600" y="6191250"/>
          <a:ext cx="14020800" cy="1381126"/>
        </p:xfrm>
        <a:graphic>
          <a:graphicData uri="http://schemas.openxmlformats.org/drawingml/2006/table">
            <a:tbl>
              <a:tblPr/>
              <a:tblGrid>
                <a:gridCol w="7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Change tried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Result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[Change, or None yet]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[What happened?]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[Optional second attempt]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[Result]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Cannot start? Describe the first blocked step or access message. ">
            <a:extLst>
              <a:ext uri="{FF2B5EF4-FFF2-40B4-BE49-F238E27FC236}">
                <a16:creationId xmlns:a16="http://schemas.microsoft.com/office/drawing/2014/main" id="{6CAF6FAC-DE18-4EFB-83AA-3AD9DDC89664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Cannot start? Describe the first blocked step or access message. Put additional issues in Appendix A.</a:t>
            </a:r>
          </a:p>
        </p:txBody>
      </p:sp>
    </p:spTree>
    <p:extLst>
      <p:ext uri="{BB962C8B-B14F-4D97-AF65-F5344CB8AC3E}">
        <p14:creationId xmlns:p14="http://schemas.microsoft.com/office/powerpoint/2010/main" val="62933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PTIONAL APPENDIX A">
            <a:extLst>
              <a:ext uri="{FF2B5EF4-FFF2-40B4-BE49-F238E27FC236}">
                <a16:creationId xmlns:a16="http://schemas.microsoft.com/office/drawing/2014/main" id="{D2D2E20E-7786-41FB-9237-A3E676F66B7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OPTIONAL APPENDIX A</a:t>
            </a:r>
          </a:p>
        </p:txBody>
      </p:sp>
      <p:sp>
        <p:nvSpPr>
          <p:cNvPr id="2" name="Additional Issue Detail">
            <a:extLst>
              <a:ext uri="{FF2B5EF4-FFF2-40B4-BE49-F238E27FC236}">
                <a16:creationId xmlns:a16="http://schemas.microsoft.com/office/drawing/2014/main" id="{8F884579-D5EE-424A-B49B-B92558745DAA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Additional Issue Detail</a:t>
            </a:r>
          </a:p>
        </p:txBody>
      </p:sp>
      <p:sp>
        <p:nvSpPr>
          <p:cNvPr id="3" name="Optional Appendix A. Duplicate this slide once per additional iss">
            <a:extLst>
              <a:ext uri="{FF2B5EF4-FFF2-40B4-BE49-F238E27FC236}">
                <a16:creationId xmlns:a16="http://schemas.microsoft.com/office/drawing/2014/main" id="{1D5FDCF3-71D9-4861-A614-F181126C10D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Optional Appendix A. Duplicate this slide once per additional issue.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F8388967-99F0-4731-BC85-AA4F8DA9BEA0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7D7FC778-B265-437C-8473-0033B080B8B5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6" name="Issue label, title and priority">
            <a:extLst>
              <a:ext uri="{FF2B5EF4-FFF2-40B4-BE49-F238E27FC236}">
                <a16:creationId xmlns:a16="http://schemas.microsoft.com/office/drawing/2014/main" id="{2143F48C-80E5-40B4-BE93-262412AE2F3B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Issue label, title and priority</a:t>
            </a:r>
          </a:p>
        </p:txBody>
      </p:sp>
      <p:sp>
        <p:nvSpPr>
          <p:cNvPr id="7" name="[ISSUE-02]  [Title]  [Priority]">
            <a:extLst>
              <a:ext uri="{FF2B5EF4-FFF2-40B4-BE49-F238E27FC236}">
                <a16:creationId xmlns:a16="http://schemas.microsoft.com/office/drawing/2014/main" id="{F762852E-DA8A-49C3-BB0C-0E25B5C49561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762750" cy="6667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[ISSUE-02]  [Title]  [Priority]</a:t>
            </a:r>
          </a:p>
        </p:txBody>
      </p:sp>
      <p:sp>
        <p:nvSpPr>
          <p:cNvPr id="8" name="Location, related test and impact">
            <a:extLst>
              <a:ext uri="{FF2B5EF4-FFF2-40B4-BE49-F238E27FC236}">
                <a16:creationId xmlns:a16="http://schemas.microsoft.com/office/drawing/2014/main" id="{09D036CB-39A9-4797-8BCB-148F04A42AFB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Location, related test and impact</a:t>
            </a:r>
          </a:p>
        </p:txBody>
      </p:sp>
      <p:sp>
        <p:nvSpPr>
          <p:cNvPr id="9" name="[Step / branch]  [Test ID]  [Impact]">
            <a:extLst>
              <a:ext uri="{FF2B5EF4-FFF2-40B4-BE49-F238E27FC236}">
                <a16:creationId xmlns:a16="http://schemas.microsoft.com/office/drawing/2014/main" id="{E5FC719B-B391-4FFD-BB7D-144404538A57}"/>
              </a:ext>
            </a:extLst>
          </p:cNvPr>
          <p:cNvSpPr>
            <a:spLocks noGrp="1"/>
          </p:cNvSpPr>
          <p:nvPr/>
        </p:nvSpPr>
        <p:spPr>
          <a:xfrm>
            <a:off x="7677150" y="2352675"/>
            <a:ext cx="6953250" cy="6667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[Step / branch]  [Test ID]  [Impact]</a:t>
            </a:r>
          </a:p>
        </p:txBody>
      </p:sp>
      <p:sp>
        <p:nvSpPr>
          <p:cNvPr id="10" name="Reproduction steps and frequency">
            <a:extLst>
              <a:ext uri="{FF2B5EF4-FFF2-40B4-BE49-F238E27FC236}">
                <a16:creationId xmlns:a16="http://schemas.microsoft.com/office/drawing/2014/main" id="{987A50F2-E0F0-4B84-B0D0-FA42EB3A674B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Reproduction steps and frequency</a:t>
            </a:r>
          </a:p>
        </p:txBody>
      </p:sp>
      <p:sp>
        <p:nvSpPr>
          <p:cNvPr id="11" name="1. [Step / sample input]&#10;2. [Step]&#10;Frequency: [ ]">
            <a:extLst>
              <a:ext uri="{FF2B5EF4-FFF2-40B4-BE49-F238E27FC236}">
                <a16:creationId xmlns:a16="http://schemas.microsoft.com/office/drawing/2014/main" id="{EAD82A47-ABF9-4163-8A77-D7776F024AB4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6762750" cy="147637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1. [Step / sample input]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2. [Step]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Frequency: [ ]</a:t>
            </a:r>
          </a:p>
        </p:txBody>
      </p:sp>
      <p:sp>
        <p:nvSpPr>
          <p:cNvPr id="12" name="Expected versus actual / error or symptom">
            <a:extLst>
              <a:ext uri="{FF2B5EF4-FFF2-40B4-BE49-F238E27FC236}">
                <a16:creationId xmlns:a16="http://schemas.microsoft.com/office/drawing/2014/main" id="{346ADE36-EEF1-4605-B142-0FF4A43EB74F}"/>
              </a:ext>
            </a:extLst>
          </p:cNvPr>
          <p:cNvSpPr>
            <a:spLocks noGrp="1"/>
          </p:cNvSpPr>
          <p:nvPr/>
        </p:nvSpPr>
        <p:spPr>
          <a:xfrm>
            <a:off x="7677150" y="3219450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Expected versus actual / error or symptom</a:t>
            </a:r>
          </a:p>
        </p:txBody>
      </p:sp>
      <p:sp>
        <p:nvSpPr>
          <p:cNvPr id="13" name="Expected: [ ]&#10;Actual: [ ]&#10;Error message or symptom: [ ]">
            <a:extLst>
              <a:ext uri="{FF2B5EF4-FFF2-40B4-BE49-F238E27FC236}">
                <a16:creationId xmlns:a16="http://schemas.microsoft.com/office/drawing/2014/main" id="{978B0349-8B7A-45EB-A7BB-055881D9DA4A}"/>
              </a:ext>
            </a:extLst>
          </p:cNvPr>
          <p:cNvSpPr>
            <a:spLocks noGrp="1"/>
          </p:cNvSpPr>
          <p:nvPr/>
        </p:nvSpPr>
        <p:spPr>
          <a:xfrm>
            <a:off x="7677150" y="3562350"/>
            <a:ext cx="6953250" cy="147637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Expected: [ 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Actual: [ ]</a:t>
            </a: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Error message or symptom: [ ]</a:t>
            </a:r>
          </a:p>
        </p:txBody>
      </p:sp>
      <p:sp>
        <p:nvSpPr>
          <p:cNvPr id="14" name="Fixes attempted and results">
            <a:extLst>
              <a:ext uri="{FF2B5EF4-FFF2-40B4-BE49-F238E27FC236}">
                <a16:creationId xmlns:a16="http://schemas.microsoft.com/office/drawing/2014/main" id="{0233D75F-3CA8-4A25-B32D-10B4A03BA1D9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Fixes attempted and results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42CD0C9-B990-437B-B7B4-9BC3D5B7F848}"/>
              </a:ext>
            </a:extLst>
          </p:cNvPr>
          <p:cNvGraphicFramePr/>
          <p:nvPr/>
        </p:nvGraphicFramePr>
        <p:xfrm>
          <a:off x="609600" y="5629275"/>
          <a:ext cx="14020800" cy="1000125"/>
        </p:xfrm>
        <a:graphic>
          <a:graphicData uri="http://schemas.openxmlformats.org/drawingml/2006/table">
            <a:tbl>
              <a:tblPr/>
              <a:tblGrid>
                <a:gridCol w="7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Change tried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Result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[Change, or None yet]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[Result]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Question for the instructor / evidence reference">
            <a:extLst>
              <a:ext uri="{FF2B5EF4-FFF2-40B4-BE49-F238E27FC236}">
                <a16:creationId xmlns:a16="http://schemas.microsoft.com/office/drawing/2014/main" id="{C5287384-752B-48AC-8C84-FAF8FB4FE045}"/>
              </a:ext>
            </a:extLst>
          </p:cNvPr>
          <p:cNvSpPr>
            <a:spLocks noGrp="1"/>
          </p:cNvSpPr>
          <p:nvPr/>
        </p:nvSpPr>
        <p:spPr>
          <a:xfrm>
            <a:off x="609600" y="6858000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Question for the instructor / evidence reference</a:t>
            </a:r>
          </a:p>
        </p:txBody>
      </p:sp>
      <p:sp>
        <p:nvSpPr>
          <p:cNvPr id="17" name="[Question]    [Appendix B evidence label, if available]">
            <a:extLst>
              <a:ext uri="{FF2B5EF4-FFF2-40B4-BE49-F238E27FC236}">
                <a16:creationId xmlns:a16="http://schemas.microsoft.com/office/drawing/2014/main" id="{B528C680-C3EE-40DF-AB02-738735F532A6}"/>
              </a:ext>
            </a:extLst>
          </p:cNvPr>
          <p:cNvSpPr>
            <a:spLocks noGrp="1"/>
          </p:cNvSpPr>
          <p:nvPr/>
        </p:nvSpPr>
        <p:spPr>
          <a:xfrm>
            <a:off x="609600" y="7200900"/>
            <a:ext cx="14020800" cy="4667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[Question]    [Appendix B evidence label, if available]</a:t>
            </a:r>
          </a:p>
        </p:txBody>
      </p:sp>
    </p:spTree>
    <p:extLst>
      <p:ext uri="{BB962C8B-B14F-4D97-AF65-F5344CB8AC3E}">
        <p14:creationId xmlns:p14="http://schemas.microsoft.com/office/powerpoint/2010/main" val="36778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PTIONAL APPENDIX B">
            <a:extLst>
              <a:ext uri="{FF2B5EF4-FFF2-40B4-BE49-F238E27FC236}">
                <a16:creationId xmlns:a16="http://schemas.microsoft.com/office/drawing/2014/main" id="{EB2A0708-FBF0-49A4-B810-4DDBE11327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OPTIONAL APPENDIX B</a:t>
            </a:r>
          </a:p>
        </p:txBody>
      </p:sp>
      <p:sp>
        <p:nvSpPr>
          <p:cNvPr id="2" name="Supporting Evidence">
            <a:extLst>
              <a:ext uri="{FF2B5EF4-FFF2-40B4-BE49-F238E27FC236}">
                <a16:creationId xmlns:a16="http://schemas.microsoft.com/office/drawing/2014/main" id="{37080C9C-3F93-4881-A43D-75F67C0F5F6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Supporting Evidence</a:t>
            </a:r>
          </a:p>
        </p:txBody>
      </p:sp>
      <p:sp>
        <p:nvSpPr>
          <p:cNvPr id="3" name="Optional Appendix B. Duplicate for each readable screenshot, diag">
            <a:extLst>
              <a:ext uri="{FF2B5EF4-FFF2-40B4-BE49-F238E27FC236}">
                <a16:creationId xmlns:a16="http://schemas.microsoft.com/office/drawing/2014/main" id="{D5C043FC-A88F-4172-A13E-8B525ADA557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Optional Appendix B. Duplicate for each readable screenshot, diagram or sample.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0344B51A-4FE8-4278-87AD-BFA36A71BD6F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08">
            <a:extLst>
              <a:ext uri="{FF2B5EF4-FFF2-40B4-BE49-F238E27FC236}">
                <a16:creationId xmlns:a16="http://schemas.microsoft.com/office/drawing/2014/main" id="{CC57E91E-88F7-42DA-8366-A5B486485180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6" name="Evidence label / related slide, test or issue / date">
            <a:extLst>
              <a:ext uri="{FF2B5EF4-FFF2-40B4-BE49-F238E27FC236}">
                <a16:creationId xmlns:a16="http://schemas.microsoft.com/office/drawing/2014/main" id="{B819D60C-8EE3-4949-867F-F765A7AAAB00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Evidence label / related slide, test or issue / date</a:t>
            </a:r>
          </a:p>
        </p:txBody>
      </p:sp>
      <p:sp>
        <p:nvSpPr>
          <p:cNvPr id="7" name="[E01]    [Slide / test / issue]    [Date]">
            <a:extLst>
              <a:ext uri="{FF2B5EF4-FFF2-40B4-BE49-F238E27FC236}">
                <a16:creationId xmlns:a16="http://schemas.microsoft.com/office/drawing/2014/main" id="{29228D69-EBA7-4C49-9874-46ED044793DD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4020800" cy="6096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[E01]    [Slide / test / issue]    [Date]</a:t>
            </a:r>
          </a:p>
        </p:txBody>
      </p:sp>
      <p:sp>
        <p:nvSpPr>
          <p:cNvPr id="8" name="Screenshot, diagram, sample data or text excerpt">
            <a:extLst>
              <a:ext uri="{FF2B5EF4-FFF2-40B4-BE49-F238E27FC236}">
                <a16:creationId xmlns:a16="http://schemas.microsoft.com/office/drawing/2014/main" id="{D424FA95-49F1-4E67-A013-C8D1E5B3A718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Screenshot, diagram, sample data or text excerpt</a:t>
            </a:r>
          </a:p>
        </p:txBody>
      </p:sp>
      <p:sp>
        <p:nvSpPr>
          <p:cNvPr id="9" name="[Replace with readable, sanitised evidence.]&#10;&#10;[A text description">
            <a:extLst>
              <a:ext uri="{FF2B5EF4-FFF2-40B4-BE49-F238E27FC236}">
                <a16:creationId xmlns:a16="http://schemas.microsoft.com/office/drawing/2014/main" id="{BFB0A49F-F5CF-47BB-AFDF-6622A172872B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9525000" cy="40862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[Replace with readable, sanitised evidence.]</a:t>
            </a:r>
          </a:p>
          <a:p>
            <a:endParaRPr sz="1725">
              <a:solidFill>
                <a:srgbClr val="586B78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[A text description is valid when a screenshot cannot be shared.]</a:t>
            </a:r>
          </a:p>
        </p:txBody>
      </p:sp>
      <p:sp>
        <p:nvSpPr>
          <p:cNvPr id="10" name="What should the instructor notice?">
            <a:extLst>
              <a:ext uri="{FF2B5EF4-FFF2-40B4-BE49-F238E27FC236}">
                <a16:creationId xmlns:a16="http://schemas.microsoft.com/office/drawing/2014/main" id="{7B49B28E-94B3-44D4-AE3C-FA31104972DE}"/>
              </a:ext>
            </a:extLst>
          </p:cNvPr>
          <p:cNvSpPr>
            <a:spLocks noGrp="1"/>
          </p:cNvSpPr>
          <p:nvPr/>
        </p:nvSpPr>
        <p:spPr>
          <a:xfrm>
            <a:off x="10439400" y="3152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What should the instructor notice?</a:t>
            </a:r>
          </a:p>
        </p:txBody>
      </p:sp>
      <p:sp>
        <p:nvSpPr>
          <p:cNvPr id="11" name="[Explain the relevant detail]">
            <a:extLst>
              <a:ext uri="{FF2B5EF4-FFF2-40B4-BE49-F238E27FC236}">
                <a16:creationId xmlns:a16="http://schemas.microsoft.com/office/drawing/2014/main" id="{A7159E19-399F-43FB-B4A0-9B7493585FA2}"/>
              </a:ext>
            </a:extLst>
          </p:cNvPr>
          <p:cNvSpPr>
            <a:spLocks noGrp="1"/>
          </p:cNvSpPr>
          <p:nvPr/>
        </p:nvSpPr>
        <p:spPr>
          <a:xfrm>
            <a:off x="10439400" y="3495675"/>
            <a:ext cx="4191000" cy="16573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[Explain the relevant detail]</a:t>
            </a:r>
          </a:p>
        </p:txBody>
      </p:sp>
      <p:sp>
        <p:nvSpPr>
          <p:cNvPr id="12" name="Context / hidden or missing details">
            <a:extLst>
              <a:ext uri="{FF2B5EF4-FFF2-40B4-BE49-F238E27FC236}">
                <a16:creationId xmlns:a16="http://schemas.microsoft.com/office/drawing/2014/main" id="{622ABB08-C537-40AB-8DED-71568D3D4224}"/>
              </a:ext>
            </a:extLst>
          </p:cNvPr>
          <p:cNvSpPr>
            <a:spLocks noGrp="1"/>
          </p:cNvSpPr>
          <p:nvPr/>
        </p:nvSpPr>
        <p:spPr>
          <a:xfrm>
            <a:off x="10439400" y="53625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Context / hidden or missing details</a:t>
            </a:r>
          </a:p>
        </p:txBody>
      </p:sp>
      <p:sp>
        <p:nvSpPr>
          <p:cNvPr id="13" name="[Design / Configuration / Test run / Output]&#10;&#10;[What is hidden or ">
            <a:extLst>
              <a:ext uri="{FF2B5EF4-FFF2-40B4-BE49-F238E27FC236}">
                <a16:creationId xmlns:a16="http://schemas.microsoft.com/office/drawing/2014/main" id="{4C8CAE98-95A3-4752-968F-EB8C88588E7C}"/>
              </a:ext>
            </a:extLst>
          </p:cNvPr>
          <p:cNvSpPr>
            <a:spLocks noGrp="1"/>
          </p:cNvSpPr>
          <p:nvPr/>
        </p:nvSpPr>
        <p:spPr>
          <a:xfrm>
            <a:off x="10439400" y="5705475"/>
            <a:ext cx="4191000" cy="18764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[Design / Configuration / Test run / Output]</a:t>
            </a:r>
          </a:p>
          <a:p>
            <a:endParaRPr sz="1725">
              <a:solidFill>
                <a:srgbClr val="586B78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[What is hidden or unavailable?]</a:t>
            </a:r>
          </a:p>
        </p:txBody>
      </p:sp>
      <p:sp>
        <p:nvSpPr>
          <p:cNvPr id="14" name="Remove sensitive information. Do not include passwords, tokens, f">
            <a:extLst>
              <a:ext uri="{FF2B5EF4-FFF2-40B4-BE49-F238E27FC236}">
                <a16:creationId xmlns:a16="http://schemas.microsoft.com/office/drawing/2014/main" id="{B7A6EB6C-D593-40C6-9736-6E93CBB1038C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Remove sensitive information. Do not include passwords, tokens, full run payloads or entire operational datasets.</a:t>
            </a:r>
          </a:p>
        </p:txBody>
      </p:sp>
    </p:spTree>
    <p:extLst>
      <p:ext uri="{BB962C8B-B14F-4D97-AF65-F5344CB8AC3E}">
        <p14:creationId xmlns:p14="http://schemas.microsoft.com/office/powerpoint/2010/main" val="88263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TCH 2 OPERATIONS">
            <a:extLst>
              <a:ext uri="{FF2B5EF4-FFF2-40B4-BE49-F238E27FC236}">
                <a16:creationId xmlns:a16="http://schemas.microsoft.com/office/drawing/2014/main" id="{CEE4B797-EDE3-420A-93BA-20928386E489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371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rPr>
              <a:t>BATCH 2 OPERATIONS</a:t>
            </a:r>
          </a:p>
        </p:txBody>
      </p:sp>
      <p:sp>
        <p:nvSpPr>
          <p:cNvPr id="2" name="Project Refinement —&#10;Completed Example">
            <a:extLst>
              <a:ext uri="{FF2B5EF4-FFF2-40B4-BE49-F238E27FC236}">
                <a16:creationId xmlns:a16="http://schemas.microsoft.com/office/drawing/2014/main" id="{71465E1D-F43D-42E3-BD8A-09BF9AA96D2E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3716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rPr>
              <a:t>Project Refinement —</a:t>
            </a:r>
          </a:p>
          <a:p>
            <a:pPr>
              <a:def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48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</a:rPr>
              <a:t>Completed Example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81467BB1-CD22-4C5F-A103-1E3299894F23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845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ictional completed example   1 / 5">
            <a:extLst>
              <a:ext uri="{FF2B5EF4-FFF2-40B4-BE49-F238E27FC236}">
                <a16:creationId xmlns:a16="http://schemas.microsoft.com/office/drawing/2014/main" id="{13DA6DC0-6BFF-4ED1-9C3B-91BC5F9AA61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Fictional completed example   1 / 5</a:t>
            </a:r>
          </a:p>
        </p:txBody>
      </p:sp>
      <p:sp>
        <p:nvSpPr>
          <p:cNvPr id="2" name="Our Project &amp; Team">
            <a:extLst>
              <a:ext uri="{FF2B5EF4-FFF2-40B4-BE49-F238E27FC236}">
                <a16:creationId xmlns:a16="http://schemas.microsoft.com/office/drawing/2014/main" id="{53E07E54-421D-4D5F-AF87-37221F1A6E2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Our Project &amp; Team</a:t>
            </a:r>
          </a:p>
        </p:txBody>
      </p:sp>
      <p:sp>
        <p:nvSpPr>
          <p:cNvPr id="3" name="One team, one main Flow. Short answers are enough. An unfinished ">
            <a:extLst>
              <a:ext uri="{FF2B5EF4-FFF2-40B4-BE49-F238E27FC236}">
                <a16:creationId xmlns:a16="http://schemas.microsoft.com/office/drawing/2014/main" id="{E2E1AEA7-5E7E-4670-A774-2F35B76E483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One team, one main Flow. Short answers are enough. An unfinished Flow is welcome.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A64A5A63-F766-4F8D-97BE-7B7E94AE682E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66687984-6432-4777-B170-67B73736E4DC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6" name="Project title / Flow name">
            <a:extLst>
              <a:ext uri="{FF2B5EF4-FFF2-40B4-BE49-F238E27FC236}">
                <a16:creationId xmlns:a16="http://schemas.microsoft.com/office/drawing/2014/main" id="{7554EFF5-98EF-4D42-96E0-D0980ED52C84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Project title / Flow name</a:t>
            </a:r>
          </a:p>
        </p:txBody>
      </p:sp>
      <p:sp>
        <p:nvSpPr>
          <p:cNvPr id="7" name="Training Request Router / Training-Request-Router">
            <a:extLst>
              <a:ext uri="{FF2B5EF4-FFF2-40B4-BE49-F238E27FC236}">
                <a16:creationId xmlns:a16="http://schemas.microsoft.com/office/drawing/2014/main" id="{FD3A24F7-D37D-4C82-A4F8-57CE7DF20CFA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762750" cy="7048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Training Request Router / Training-Request-Router</a:t>
            </a:r>
          </a:p>
        </p:txBody>
      </p:sp>
      <p:sp>
        <p:nvSpPr>
          <p:cNvPr id="8" name="Team / department and last updated">
            <a:extLst>
              <a:ext uri="{FF2B5EF4-FFF2-40B4-BE49-F238E27FC236}">
                <a16:creationId xmlns:a16="http://schemas.microsoft.com/office/drawing/2014/main" id="{D5F53D40-0C97-4B4B-8CE9-E1EC5FE8678A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Team / department and last updated</a:t>
            </a:r>
          </a:p>
        </p:txBody>
      </p:sp>
      <p:sp>
        <p:nvSpPr>
          <p:cNvPr id="9" name="Team A / Operations    10 November 2026">
            <a:extLst>
              <a:ext uri="{FF2B5EF4-FFF2-40B4-BE49-F238E27FC236}">
                <a16:creationId xmlns:a16="http://schemas.microsoft.com/office/drawing/2014/main" id="{50FA8E0B-083C-44F9-82CA-20B4F15AF0F4}"/>
              </a:ext>
            </a:extLst>
          </p:cNvPr>
          <p:cNvSpPr>
            <a:spLocks noGrp="1"/>
          </p:cNvSpPr>
          <p:nvPr/>
        </p:nvSpPr>
        <p:spPr>
          <a:xfrm>
            <a:off x="7677150" y="2352675"/>
            <a:ext cx="6953250" cy="7048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Team A / Operations    10 November 2026</a:t>
            </a:r>
          </a:p>
        </p:txBody>
      </p:sp>
      <p:sp>
        <p:nvSpPr>
          <p:cNvPr id="10" name="Members and roles">
            <a:extLst>
              <a:ext uri="{FF2B5EF4-FFF2-40B4-BE49-F238E27FC236}">
                <a16:creationId xmlns:a16="http://schemas.microsoft.com/office/drawing/2014/main" id="{1BB89520-5DDE-45FF-9B84-622921102E85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Members and roles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2D31D0A-542D-4554-B873-BD47D8FADA33}"/>
              </a:ext>
            </a:extLst>
          </p:cNvPr>
          <p:cNvGraphicFramePr/>
          <p:nvPr/>
        </p:nvGraphicFramePr>
        <p:xfrm>
          <a:off x="609600" y="3657600"/>
          <a:ext cx="14020800" cy="20955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Member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Role (mark builder / contact)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Built or tested which part?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650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Member A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Builder / contact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Form, tracker and branches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Member B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Tester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Operations and Finance outputs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additional member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Not applicable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Not applicable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Current status (replace with one choice below)">
            <a:extLst>
              <a:ext uri="{FF2B5EF4-FFF2-40B4-BE49-F238E27FC236}">
                <a16:creationId xmlns:a16="http://schemas.microsoft.com/office/drawing/2014/main" id="{217BD7B8-A78D-415A-A82B-C6C2F2782A2E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Current status (replace with one choice below)</a:t>
            </a:r>
          </a:p>
        </p:txBody>
      </p:sp>
      <p:sp>
        <p:nvSpPr>
          <p:cNvPr id="13" name="Tested with issues">
            <a:extLst>
              <a:ext uri="{FF2B5EF4-FFF2-40B4-BE49-F238E27FC236}">
                <a16:creationId xmlns:a16="http://schemas.microsoft.com/office/drawing/2014/main" id="{8C7F0619-64B5-4930-BE58-A13FF5DD818B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6762750" cy="6858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Tested with issues</a:t>
            </a:r>
          </a:p>
        </p:txBody>
      </p:sp>
      <p:sp>
        <p:nvSpPr>
          <p:cNvPr id="14" name="Main support need in one sentence">
            <a:extLst>
              <a:ext uri="{FF2B5EF4-FFF2-40B4-BE49-F238E27FC236}">
                <a16:creationId xmlns:a16="http://schemas.microsoft.com/office/drawing/2014/main" id="{6095B03F-555B-4E10-80E0-D048E364F706}"/>
              </a:ext>
            </a:extLst>
          </p:cNvPr>
          <p:cNvSpPr>
            <a:spLocks noGrp="1"/>
          </p:cNvSpPr>
          <p:nvPr/>
        </p:nvSpPr>
        <p:spPr>
          <a:xfrm>
            <a:off x="7677150" y="59721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Main support need in one sentence</a:t>
            </a:r>
          </a:p>
        </p:txBody>
      </p:sp>
      <p:sp>
        <p:nvSpPr>
          <p:cNvPr id="15" name="Finance input receives an Operations-labelled email.">
            <a:extLst>
              <a:ext uri="{FF2B5EF4-FFF2-40B4-BE49-F238E27FC236}">
                <a16:creationId xmlns:a16="http://schemas.microsoft.com/office/drawing/2014/main" id="{C90FD940-E120-4A23-B1F4-6B32E81648B4}"/>
              </a:ext>
            </a:extLst>
          </p:cNvPr>
          <p:cNvSpPr>
            <a:spLocks noGrp="1"/>
          </p:cNvSpPr>
          <p:nvPr/>
        </p:nvSpPr>
        <p:spPr>
          <a:xfrm>
            <a:off x="7677150" y="6315075"/>
            <a:ext cx="6953250" cy="6858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Finance input receives an Operations-labelled email.</a:t>
            </a:r>
          </a:p>
        </p:txBody>
      </p:sp>
      <p:sp>
        <p:nvSpPr>
          <p:cNvPr id="16" name="Status choices: Not started / Design only / Partly built / Built ">
            <a:extLst>
              <a:ext uri="{FF2B5EF4-FFF2-40B4-BE49-F238E27FC236}">
                <a16:creationId xmlns:a16="http://schemas.microsoft.com/office/drawing/2014/main" id="{27813F7F-96F7-485B-B775-C56021AE6A32}"/>
              </a:ext>
            </a:extLst>
          </p:cNvPr>
          <p:cNvSpPr>
            <a:spLocks noGrp="1"/>
          </p:cNvSpPr>
          <p:nvPr/>
        </p:nvSpPr>
        <p:spPr>
          <a:xfrm>
            <a:off x="609600" y="7115175"/>
            <a:ext cx="14020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Status choices: Not started / Design only / Partly built / Built but not tested /</a:t>
            </a:r>
          </a:p>
          <a:p>
            <a:pPr>
              <a:def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Tested with issues / Tested successfully for stated cases</a:t>
            </a:r>
          </a:p>
        </p:txBody>
      </p:sp>
      <p:sp>
        <p:nvSpPr>
          <p:cNvPr id="17" name="Use synthetic or approved information. Remove sensitive details a">
            <a:extLst>
              <a:ext uri="{FF2B5EF4-FFF2-40B4-BE49-F238E27FC236}">
                <a16:creationId xmlns:a16="http://schemas.microsoft.com/office/drawing/2014/main" id="{5924830B-C514-44EB-BCC6-1D2959CB7026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Use synthetic or approved information. Remove sensitive details and credentials. See Notes for completion guidance.</a:t>
            </a:r>
          </a:p>
        </p:txBody>
      </p:sp>
    </p:spTree>
    <p:extLst>
      <p:ext uri="{BB962C8B-B14F-4D97-AF65-F5344CB8AC3E}">
        <p14:creationId xmlns:p14="http://schemas.microsoft.com/office/powerpoint/2010/main" val="142939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ictional completed example   2 / 5">
            <a:extLst>
              <a:ext uri="{FF2B5EF4-FFF2-40B4-BE49-F238E27FC236}">
                <a16:creationId xmlns:a16="http://schemas.microsoft.com/office/drawing/2014/main" id="{B90C0F49-B619-4DF4-AA7A-2426881C972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Fictional completed example   2 / 5</a:t>
            </a:r>
          </a:p>
        </p:txBody>
      </p:sp>
      <p:sp>
        <p:nvSpPr>
          <p:cNvPr id="2" name="The Problem &amp; Expected Outcome">
            <a:extLst>
              <a:ext uri="{FF2B5EF4-FFF2-40B4-BE49-F238E27FC236}">
                <a16:creationId xmlns:a16="http://schemas.microsoft.com/office/drawing/2014/main" id="{E4C18E85-D8C8-42BA-B91B-459F7DDF0AD4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The Problem &amp; Expected Outcome</a:t>
            </a:r>
          </a:p>
        </p:txBody>
      </p:sp>
      <p:sp>
        <p:nvSpPr>
          <p:cNvPr id="3" name="What work should this Flow improve, and what would a correct resu">
            <a:extLst>
              <a:ext uri="{FF2B5EF4-FFF2-40B4-BE49-F238E27FC236}">
                <a16:creationId xmlns:a16="http://schemas.microsoft.com/office/drawing/2014/main" id="{0281F0CA-5FC6-4D17-97F5-F74EB33F4DC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What work should this Flow improve, and what would a correct result look like?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267C5C8B-5657-476F-A18E-003AEB845C54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FC0D4405-DB96-4ADF-B111-D5C04681831D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6" name="Current task and people involved">
            <a:extLst>
              <a:ext uri="{FF2B5EF4-FFF2-40B4-BE49-F238E27FC236}">
                <a16:creationId xmlns:a16="http://schemas.microsoft.com/office/drawing/2014/main" id="{92935B9A-052A-4A1D-A1D1-53F60ADA26E9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Current task and people involved</a:t>
            </a:r>
          </a:p>
        </p:txBody>
      </p:sp>
      <p:sp>
        <p:nvSpPr>
          <p:cNvPr id="7" name="A coordinator copies requests into a tracker and emails the respo">
            <a:extLst>
              <a:ext uri="{FF2B5EF4-FFF2-40B4-BE49-F238E27FC236}">
                <a16:creationId xmlns:a16="http://schemas.microsoft.com/office/drawing/2014/main" id="{786CF764-AB8F-41B4-983E-2D5E8069C4A2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762750" cy="12001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A coordinator copies requests into a tracker and emails the responsible team.</a:t>
            </a:r>
          </a:p>
        </p:txBody>
      </p:sp>
      <p:sp>
        <p:nvSpPr>
          <p:cNvPr id="8" name="Main pain point and reason for choosing it">
            <a:extLst>
              <a:ext uri="{FF2B5EF4-FFF2-40B4-BE49-F238E27FC236}">
                <a16:creationId xmlns:a16="http://schemas.microsoft.com/office/drawing/2014/main" id="{4F38A2B1-3199-4B5B-B8AB-FD8C5815B43C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Main pain point and reason for choosing it</a:t>
            </a:r>
          </a:p>
        </p:txBody>
      </p:sp>
      <p:sp>
        <p:nvSpPr>
          <p:cNvPr id="9" name="Manual copying and incorrect routing create extra checking.">
            <a:extLst>
              <a:ext uri="{FF2B5EF4-FFF2-40B4-BE49-F238E27FC236}">
                <a16:creationId xmlns:a16="http://schemas.microsoft.com/office/drawing/2014/main" id="{1181D42A-6920-40CA-8294-149BD929B490}"/>
              </a:ext>
            </a:extLst>
          </p:cNvPr>
          <p:cNvSpPr>
            <a:spLocks noGrp="1"/>
          </p:cNvSpPr>
          <p:nvPr/>
        </p:nvSpPr>
        <p:spPr>
          <a:xfrm>
            <a:off x="7677150" y="2352675"/>
            <a:ext cx="6953250" cy="12001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Manual copying and incorrect routing create extra checking.</a:t>
            </a:r>
          </a:p>
        </p:txBody>
      </p:sp>
      <p:sp>
        <p:nvSpPr>
          <p:cNvPr id="10" name="Flow boundary">
            <a:extLst>
              <a:ext uri="{FF2B5EF4-FFF2-40B4-BE49-F238E27FC236}">
                <a16:creationId xmlns:a16="http://schemas.microsoft.com/office/drawing/2014/main" id="{D13EFA07-2633-4B1D-9CC5-3D8F5BF88779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Flow boundary</a:t>
            </a:r>
          </a:p>
        </p:txBody>
      </p:sp>
      <p:sp>
        <p:nvSpPr>
          <p:cNvPr id="11" name="Starts when: a training Form response arrives.&#10;Ends when: one row">
            <a:extLst>
              <a:ext uri="{FF2B5EF4-FFF2-40B4-BE49-F238E27FC236}">
                <a16:creationId xmlns:a16="http://schemas.microsoft.com/office/drawing/2014/main" id="{D7F40767-A758-4709-94BD-406CDBBB6DBE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6762750" cy="14192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Starts when: a training Form response arrives.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Ends when: one row and one email are created.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Manual: handling the request.</a:t>
            </a:r>
          </a:p>
        </p:txBody>
      </p:sp>
      <p:sp>
        <p:nvSpPr>
          <p:cNvPr id="12" name="Expected outcome">
            <a:extLst>
              <a:ext uri="{FF2B5EF4-FFF2-40B4-BE49-F238E27FC236}">
                <a16:creationId xmlns:a16="http://schemas.microsoft.com/office/drawing/2014/main" id="{262CEC27-E287-4564-8319-BF6B707605CC}"/>
              </a:ext>
            </a:extLst>
          </p:cNvPr>
          <p:cNvSpPr>
            <a:spLocks noGrp="1"/>
          </p:cNvSpPr>
          <p:nvPr/>
        </p:nvSpPr>
        <p:spPr>
          <a:xfrm>
            <a:off x="7677150" y="3752850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Expected outcome</a:t>
            </a:r>
          </a:p>
        </p:txBody>
      </p:sp>
      <p:sp>
        <p:nvSpPr>
          <p:cNvPr id="13" name="One accurate tracker row and a correctly labelled email to the ap">
            <a:extLst>
              <a:ext uri="{FF2B5EF4-FFF2-40B4-BE49-F238E27FC236}">
                <a16:creationId xmlns:a16="http://schemas.microsoft.com/office/drawing/2014/main" id="{3B37724C-F333-4A9D-8F78-BF99E0D2D102}"/>
              </a:ext>
            </a:extLst>
          </p:cNvPr>
          <p:cNvSpPr>
            <a:spLocks noGrp="1"/>
          </p:cNvSpPr>
          <p:nvPr/>
        </p:nvSpPr>
        <p:spPr>
          <a:xfrm>
            <a:off x="7677150" y="4095750"/>
            <a:ext cx="6953250" cy="14192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One accurate tracker row and a correctly labelled email to the approved test mailbox.</a:t>
            </a:r>
          </a:p>
        </p:txBody>
      </p:sp>
      <p:sp>
        <p:nvSpPr>
          <p:cNvPr id="14" name="Success criteria (1–3 observable checks)">
            <a:extLst>
              <a:ext uri="{FF2B5EF4-FFF2-40B4-BE49-F238E27FC236}">
                <a16:creationId xmlns:a16="http://schemas.microsoft.com/office/drawing/2014/main" id="{7F71D78E-7410-4C8A-BF58-906C5F5F697E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Success criteria (1–3 observable checks)</a:t>
            </a:r>
          </a:p>
        </p:txBody>
      </p:sp>
      <p:sp>
        <p:nvSpPr>
          <p:cNvPr id="15" name="1. Operations input produces an Operations-labelled email.&#10;2. Fin">
            <a:extLst>
              <a:ext uri="{FF2B5EF4-FFF2-40B4-BE49-F238E27FC236}">
                <a16:creationId xmlns:a16="http://schemas.microsoft.com/office/drawing/2014/main" id="{7667C609-FB29-4F22-BA79-50700E74568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4020800" cy="12668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1. Operations input produces an Operations-labelled email.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2. Finance input produces a Finance-labelled email.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3. Each submission creates one row and one email.</a:t>
            </a:r>
          </a:p>
        </p:txBody>
      </p:sp>
      <p:sp>
        <p:nvSpPr>
          <p:cNvPr id="16" name="Optional in Notes: task frequency and manual effort. Label number">
            <a:extLst>
              <a:ext uri="{FF2B5EF4-FFF2-40B4-BE49-F238E27FC236}">
                <a16:creationId xmlns:a16="http://schemas.microsoft.com/office/drawing/2014/main" id="{93765B8A-789F-4B42-A9AA-ECFE7A0684CF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Optional in Notes: task frequency and manual effort. Label numbers Observed, Estimated or Unknown, with their basis.</a:t>
            </a:r>
          </a:p>
        </p:txBody>
      </p:sp>
    </p:spTree>
    <p:extLst>
      <p:ext uri="{BB962C8B-B14F-4D97-AF65-F5344CB8AC3E}">
        <p14:creationId xmlns:p14="http://schemas.microsoft.com/office/powerpoint/2010/main" val="1032523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ictional completed example   3 / 5">
            <a:extLst>
              <a:ext uri="{FF2B5EF4-FFF2-40B4-BE49-F238E27FC236}">
                <a16:creationId xmlns:a16="http://schemas.microsoft.com/office/drawing/2014/main" id="{B454D84F-0634-42CF-840C-E901A3D6BFC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Fictional completed example   3 / 5</a:t>
            </a:r>
          </a:p>
        </p:txBody>
      </p:sp>
      <p:sp>
        <p:nvSpPr>
          <p:cNvPr id="2" name="How Our Flow Works">
            <a:extLst>
              <a:ext uri="{FF2B5EF4-FFF2-40B4-BE49-F238E27FC236}">
                <a16:creationId xmlns:a16="http://schemas.microsoft.com/office/drawing/2014/main" id="{0409DA9B-0DCF-4231-BAF5-910542AC3384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How Our Flow Works</a:t>
            </a:r>
          </a:p>
        </p:txBody>
      </p:sp>
      <p:sp>
        <p:nvSpPr>
          <p:cNvPr id="3" name="Show the route from input to output. Mark steps Built, Planned or">
            <a:extLst>
              <a:ext uri="{FF2B5EF4-FFF2-40B4-BE49-F238E27FC236}">
                <a16:creationId xmlns:a16="http://schemas.microsoft.com/office/drawing/2014/main" id="{3F0AC785-1CAD-48A1-9E77-8DE13062542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Show the route from input to output. Mark steps Built, Planned or Blocked.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26BDAC1B-20E0-4DFC-9A72-75B7737FCB30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58D93891-750D-487C-B16C-6CC6F9466BD6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6" name="Flow diagram / readable screenshot">
            <a:extLst>
              <a:ext uri="{FF2B5EF4-FFF2-40B4-BE49-F238E27FC236}">
                <a16:creationId xmlns:a16="http://schemas.microsoft.com/office/drawing/2014/main" id="{B3B4CAD3-CD80-4B6C-8DA9-FFF26FDA5BA4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Flow diagram / readable screenshot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6E574-81BE-40C3-A3DC-0ACC54778CB0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8096250" cy="41338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endParaRPr/>
          </a:p>
        </p:txBody>
      </p:sp>
      <p:sp>
        <p:nvSpPr>
          <p:cNvPr id="8" name="Apps / connectors">
            <a:extLst>
              <a:ext uri="{FF2B5EF4-FFF2-40B4-BE49-F238E27FC236}">
                <a16:creationId xmlns:a16="http://schemas.microsoft.com/office/drawing/2014/main" id="{47CA3805-B182-4036-BD96-2E4B8A6D78DC}"/>
              </a:ext>
            </a:extLst>
          </p:cNvPr>
          <p:cNvSpPr>
            <a:spLocks noGrp="1"/>
          </p:cNvSpPr>
          <p:nvPr/>
        </p:nvSpPr>
        <p:spPr>
          <a:xfrm>
            <a:off x="9010650" y="20097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Apps / connectors</a:t>
            </a:r>
          </a:p>
        </p:txBody>
      </p:sp>
      <p:sp>
        <p:nvSpPr>
          <p:cNvPr id="9" name="Microsoft Forms, Excel Online (Business),&#10;Office 365 Outlook">
            <a:extLst>
              <a:ext uri="{FF2B5EF4-FFF2-40B4-BE49-F238E27FC236}">
                <a16:creationId xmlns:a16="http://schemas.microsoft.com/office/drawing/2014/main" id="{18FAFAB6-3587-4334-8312-0246D3628E5C}"/>
              </a:ext>
            </a:extLst>
          </p:cNvPr>
          <p:cNvSpPr>
            <a:spLocks noGrp="1"/>
          </p:cNvSpPr>
          <p:nvPr/>
        </p:nvSpPr>
        <p:spPr>
          <a:xfrm>
            <a:off x="9010650" y="2352675"/>
            <a:ext cx="5619750" cy="8572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Microsoft Forms, Excel Online (Business),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Office 365 Outlook</a:t>
            </a:r>
          </a:p>
        </p:txBody>
      </p:sp>
      <p:sp>
        <p:nvSpPr>
          <p:cNvPr id="10" name="Input and source">
            <a:extLst>
              <a:ext uri="{FF2B5EF4-FFF2-40B4-BE49-F238E27FC236}">
                <a16:creationId xmlns:a16="http://schemas.microsoft.com/office/drawing/2014/main" id="{81B632A6-75E7-4B0E-B593-76B1A2FDEC1F}"/>
              </a:ext>
            </a:extLst>
          </p:cNvPr>
          <p:cNvSpPr>
            <a:spLocks noGrp="1"/>
          </p:cNvSpPr>
          <p:nvPr/>
        </p:nvSpPr>
        <p:spPr>
          <a:xfrm>
            <a:off x="9010650" y="33813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Input and source</a:t>
            </a:r>
          </a:p>
        </p:txBody>
      </p:sp>
      <p:sp>
        <p:nvSpPr>
          <p:cNvPr id="11" name="Form fields: RequestTitle (Text), Category&#10;(single choice: Operat">
            <a:extLst>
              <a:ext uri="{FF2B5EF4-FFF2-40B4-BE49-F238E27FC236}">
                <a16:creationId xmlns:a16="http://schemas.microsoft.com/office/drawing/2014/main" id="{AF082EBC-8D1C-4A69-BBB0-F84173C24D73}"/>
              </a:ext>
            </a:extLst>
          </p:cNvPr>
          <p:cNvSpPr>
            <a:spLocks noGrp="1"/>
          </p:cNvSpPr>
          <p:nvPr/>
        </p:nvSpPr>
        <p:spPr>
          <a:xfrm>
            <a:off x="9010650" y="3724275"/>
            <a:ext cx="5619750" cy="11239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 dirty="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Form fields: </a:t>
            </a:r>
            <a:r>
              <a:rPr sz="1725" dirty="0" err="1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RequestTitle</a:t>
            </a:r>
            <a:r>
              <a:rPr sz="1725" dirty="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 (Text), Category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 dirty="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(single choice: Operations or Finance).</a:t>
            </a:r>
          </a:p>
        </p:txBody>
      </p:sp>
      <p:sp>
        <p:nvSpPr>
          <p:cNvPr id="12" name="Output and destination">
            <a:extLst>
              <a:ext uri="{FF2B5EF4-FFF2-40B4-BE49-F238E27FC236}">
                <a16:creationId xmlns:a16="http://schemas.microsoft.com/office/drawing/2014/main" id="{C8B43E9B-478A-4968-80D9-1CD56FC05525}"/>
              </a:ext>
            </a:extLst>
          </p:cNvPr>
          <p:cNvSpPr>
            <a:spLocks noGrp="1"/>
          </p:cNvSpPr>
          <p:nvPr/>
        </p:nvSpPr>
        <p:spPr>
          <a:xfrm>
            <a:off x="9010650" y="50196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Output and destination</a:t>
            </a:r>
          </a:p>
        </p:txBody>
      </p:sp>
      <p:sp>
        <p:nvSpPr>
          <p:cNvPr id="13" name="One RequestsTable row and one email&#10;to the approved test mailbox.">
            <a:extLst>
              <a:ext uri="{FF2B5EF4-FFF2-40B4-BE49-F238E27FC236}">
                <a16:creationId xmlns:a16="http://schemas.microsoft.com/office/drawing/2014/main" id="{3211C087-F624-44C8-AD62-8EAD71F490A6}"/>
              </a:ext>
            </a:extLst>
          </p:cNvPr>
          <p:cNvSpPr>
            <a:spLocks noGrp="1"/>
          </p:cNvSpPr>
          <p:nvPr/>
        </p:nvSpPr>
        <p:spPr>
          <a:xfrm>
            <a:off x="9010650" y="5362575"/>
            <a:ext cx="5619750" cy="11239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One RequestsTable row and one email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to the approved test mailbox.</a:t>
            </a:r>
          </a:p>
        </p:txBody>
      </p:sp>
      <p:sp>
        <p:nvSpPr>
          <p:cNvPr id="14" name="Human decisions or checks">
            <a:extLst>
              <a:ext uri="{FF2B5EF4-FFF2-40B4-BE49-F238E27FC236}">
                <a16:creationId xmlns:a16="http://schemas.microsoft.com/office/drawing/2014/main" id="{B01FDB5A-02E9-4EE6-BF04-FC21366B9486}"/>
              </a:ext>
            </a:extLst>
          </p:cNvPr>
          <p:cNvSpPr>
            <a:spLocks noGrp="1"/>
          </p:cNvSpPr>
          <p:nvPr/>
        </p:nvSpPr>
        <p:spPr>
          <a:xfrm>
            <a:off x="609600" y="667702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Human decisions or checks</a:t>
            </a:r>
          </a:p>
        </p:txBody>
      </p:sp>
      <p:sp>
        <p:nvSpPr>
          <p:cNvPr id="15" name="Member B compares each row and email with its input. No approval ">
            <a:extLst>
              <a:ext uri="{FF2B5EF4-FFF2-40B4-BE49-F238E27FC236}">
                <a16:creationId xmlns:a16="http://schemas.microsoft.com/office/drawing/2014/main" id="{6EE23C7F-90BB-48E9-BE09-3B6C56DB1B83}"/>
              </a:ext>
            </a:extLst>
          </p:cNvPr>
          <p:cNvSpPr>
            <a:spLocks noGrp="1"/>
          </p:cNvSpPr>
          <p:nvPr/>
        </p:nvSpPr>
        <p:spPr>
          <a:xfrm>
            <a:off x="609600" y="7019925"/>
            <a:ext cx="14020800" cy="5905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Member B compares each row and email with its input. No approval step in this Flow.</a:t>
            </a:r>
          </a:p>
        </p:txBody>
      </p:sp>
      <p:sp>
        <p:nvSpPr>
          <p:cNvPr id="16" name="Trigger: show what starts the Flow. A hand-drawn plan is valid ev">
            <a:extLst>
              <a:ext uri="{FF2B5EF4-FFF2-40B4-BE49-F238E27FC236}">
                <a16:creationId xmlns:a16="http://schemas.microsoft.com/office/drawing/2014/main" id="{BD68D151-D631-4A8F-97B9-DAA3E73B50BC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 dirty="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Trigger: show what starts the Flow. A hand-drawn plan is valid even if you have not built it yet.</a:t>
            </a:r>
          </a:p>
        </p:txBody>
      </p:sp>
      <p:sp>
        <p:nvSpPr>
          <p:cNvPr id="17" name="When a new response is submitted&#10;Built">
            <a:extLst>
              <a:ext uri="{FF2B5EF4-FFF2-40B4-BE49-F238E27FC236}">
                <a16:creationId xmlns:a16="http://schemas.microsoft.com/office/drawing/2014/main" id="{CF450453-BE13-4291-9063-E6AABF8761B2}"/>
              </a:ext>
            </a:extLst>
          </p:cNvPr>
          <p:cNvSpPr>
            <a:spLocks noGrp="1"/>
          </p:cNvSpPr>
          <p:nvPr/>
        </p:nvSpPr>
        <p:spPr>
          <a:xfrm>
            <a:off x="3095625" y="2505075"/>
            <a:ext cx="3143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006D77"/>
            </a:solidFill>
          </a:ln>
        </p:spPr>
        <p:txBody>
          <a:bodyPr lIns="38100" tIns="38100" rIns="38100" bIns="38100" anchor="ctr">
            <a:noAutofit/>
          </a:bodyPr>
          <a:lstStyle>
            <a:def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When a new response is submitted</a:t>
            </a:r>
          </a:p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18" name="Get response details&#10;Built">
            <a:extLst>
              <a:ext uri="{FF2B5EF4-FFF2-40B4-BE49-F238E27FC236}">
                <a16:creationId xmlns:a16="http://schemas.microsoft.com/office/drawing/2014/main" id="{E7BF1E30-20F7-4DD6-88EC-B5F6DA3B32E7}"/>
              </a:ext>
            </a:extLst>
          </p:cNvPr>
          <p:cNvSpPr>
            <a:spLocks noGrp="1"/>
          </p:cNvSpPr>
          <p:nvPr/>
        </p:nvSpPr>
        <p:spPr>
          <a:xfrm>
            <a:off x="3095625" y="3352800"/>
            <a:ext cx="3143250" cy="5334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6D77"/>
            </a:solidFill>
          </a:ln>
        </p:spPr>
        <p:txBody>
          <a:bodyPr lIns="38100" tIns="38100" rIns="38100" bIns="38100" anchor="ctr">
            <a:noAutofit/>
          </a:bodyPr>
          <a:lstStyle>
            <a:def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Get response details</a:t>
            </a:r>
          </a:p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19" name="Add a row into a table&#10;Built">
            <a:extLst>
              <a:ext uri="{FF2B5EF4-FFF2-40B4-BE49-F238E27FC236}">
                <a16:creationId xmlns:a16="http://schemas.microsoft.com/office/drawing/2014/main" id="{FF294C7B-32CA-4649-A5D8-6DD2BF961FD8}"/>
              </a:ext>
            </a:extLst>
          </p:cNvPr>
          <p:cNvSpPr>
            <a:spLocks noGrp="1"/>
          </p:cNvSpPr>
          <p:nvPr/>
        </p:nvSpPr>
        <p:spPr>
          <a:xfrm>
            <a:off x="3095625" y="4143375"/>
            <a:ext cx="3143250" cy="5334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6D77"/>
            </a:solidFill>
          </a:ln>
        </p:spPr>
        <p:txBody>
          <a:bodyPr lIns="38100" tIns="38100" rIns="38100" bIns="38100" anchor="ctr">
            <a:noAutofit/>
          </a:bodyPr>
          <a:lstStyle>
            <a:def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Add a row into a table</a:t>
            </a:r>
          </a:p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20" name="Category = Operations?&#10;Built · routing unverified">
            <a:extLst>
              <a:ext uri="{FF2B5EF4-FFF2-40B4-BE49-F238E27FC236}">
                <a16:creationId xmlns:a16="http://schemas.microsoft.com/office/drawing/2014/main" id="{BF0C67A9-5D4C-4CC9-937C-85962C1EDDB6}"/>
              </a:ext>
            </a:extLst>
          </p:cNvPr>
          <p:cNvSpPr>
            <a:spLocks noGrp="1"/>
          </p:cNvSpPr>
          <p:nvPr/>
        </p:nvSpPr>
        <p:spPr>
          <a:xfrm>
            <a:off x="3095625" y="4933950"/>
            <a:ext cx="3143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006D77"/>
            </a:solidFill>
          </a:ln>
        </p:spPr>
        <p:txBody>
          <a:bodyPr lIns="38100" tIns="38100" rIns="38100" bIns="38100" anchor="ctr">
            <a:noAutofit/>
          </a:bodyPr>
          <a:lstStyle>
            <a:def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Category = Operations?</a:t>
            </a:r>
          </a:p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Built · routing unverified</a:t>
            </a:r>
          </a:p>
        </p:txBody>
      </p:sp>
      <p:sp>
        <p:nvSpPr>
          <p:cNvPr id="21" name="Send an email (V2)&#10;Operations label · Built">
            <a:extLst>
              <a:ext uri="{FF2B5EF4-FFF2-40B4-BE49-F238E27FC236}">
                <a16:creationId xmlns:a16="http://schemas.microsoft.com/office/drawing/2014/main" id="{CF4E988C-4792-43CF-9F8E-438BAB89B48D}"/>
              </a:ext>
            </a:extLst>
          </p:cNvPr>
          <p:cNvSpPr>
            <a:spLocks noGrp="1"/>
          </p:cNvSpPr>
          <p:nvPr/>
        </p:nvSpPr>
        <p:spPr>
          <a:xfrm>
            <a:off x="895350" y="5857875"/>
            <a:ext cx="3333750" cy="5334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6D77"/>
            </a:solidFill>
          </a:ln>
        </p:spPr>
        <p:txBody>
          <a:bodyPr lIns="38100" tIns="38100" rIns="38100" bIns="38100" anchor="ctr">
            <a:noAutofit/>
          </a:bodyPr>
          <a:lstStyle>
            <a:def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Send an email (V2)</a:t>
            </a:r>
          </a:p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Operations label · Built</a:t>
            </a:r>
          </a:p>
        </p:txBody>
      </p:sp>
      <p:sp>
        <p:nvSpPr>
          <p:cNvPr id="22" name="Send an email (V2)&#10;Finance label · Built">
            <a:extLst>
              <a:ext uri="{FF2B5EF4-FFF2-40B4-BE49-F238E27FC236}">
                <a16:creationId xmlns:a16="http://schemas.microsoft.com/office/drawing/2014/main" id="{A2F01485-C102-4F00-989B-131B24BB4D1D}"/>
              </a:ext>
            </a:extLst>
          </p:cNvPr>
          <p:cNvSpPr>
            <a:spLocks noGrp="1"/>
          </p:cNvSpPr>
          <p:nvPr/>
        </p:nvSpPr>
        <p:spPr>
          <a:xfrm>
            <a:off x="5048250" y="5857875"/>
            <a:ext cx="3333750" cy="5334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6D77"/>
            </a:solidFill>
          </a:ln>
        </p:spPr>
        <p:txBody>
          <a:bodyPr lIns="38100" tIns="38100" rIns="38100" bIns="38100" anchor="ctr">
            <a:noAutofit/>
          </a:bodyPr>
          <a:lstStyle>
            <a:def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Send an email (V2)</a:t>
            </a:r>
          </a:p>
          <a:p>
            <a:pPr algn="ctr">
              <a:def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Finance label · Built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BD231B-6887-4FB0-93A3-4649BC9E60C4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4667250" y="3095625"/>
            <a:ext cx="0" cy="257175"/>
          </a:xfrm>
          <a:prstGeom prst="straightConnector1">
            <a:avLst/>
          </a:prstGeom>
          <a:ln w="19050">
            <a:solidFill>
              <a:srgbClr val="006D77"/>
            </a:solidFill>
            <a:tailEnd type="triangle" w="med" len="med"/>
          </a:ln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6AB8BC-5A7B-4CDA-AC10-BA3E8A0580A7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4667250" y="3886200"/>
            <a:ext cx="0" cy="257175"/>
          </a:xfrm>
          <a:prstGeom prst="straightConnector1">
            <a:avLst/>
          </a:prstGeom>
          <a:ln w="19050">
            <a:solidFill>
              <a:srgbClr val="006D77"/>
            </a:solidFill>
            <a:tailEnd type="triangle" w="med" len="med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37DD66-6F96-4F57-9205-90E8A21B78E0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4667250" y="4676775"/>
            <a:ext cx="0" cy="257175"/>
          </a:xfrm>
          <a:prstGeom prst="straightConnector1">
            <a:avLst/>
          </a:prstGeom>
          <a:ln w="19050">
            <a:solidFill>
              <a:srgbClr val="006D77"/>
            </a:solidFill>
            <a:tailEnd type="triangle" w="med" len="med"/>
          </a:ln>
        </p:spPr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67A5C1C1-5C92-4863-AE51-F0FCC9ECF74A}"/>
              </a:ext>
            </a:extLst>
          </p:cNvPr>
          <p:cNvCxnSpPr>
            <a:stCxn id="20" idx="1"/>
            <a:endCxn id="21" idx="0"/>
          </p:cNvCxnSpPr>
          <p:nvPr/>
        </p:nvCxnSpPr>
        <p:spPr>
          <a:xfrm flipH="1">
            <a:off x="2562225" y="5229225"/>
            <a:ext cx="533400" cy="628650"/>
          </a:xfrm>
          <a:prstGeom prst="bentConnector2">
            <a:avLst/>
          </a:prstGeom>
          <a:ln w="19050">
            <a:solidFill>
              <a:srgbClr val="006D77"/>
            </a:solidFill>
            <a:tailEnd type="triangle" w="med" len="med"/>
          </a:ln>
        </p:spPr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01EEC16B-3ED0-4215-BC8B-1DFD74C4C242}"/>
              </a:ext>
            </a:extLst>
          </p:cNvPr>
          <p:cNvCxnSpPr>
            <a:stCxn id="20" idx="3"/>
            <a:endCxn id="22" idx="0"/>
          </p:cNvCxnSpPr>
          <p:nvPr/>
        </p:nvCxnSpPr>
        <p:spPr>
          <a:xfrm>
            <a:off x="6238875" y="5229225"/>
            <a:ext cx="476250" cy="628650"/>
          </a:xfrm>
          <a:prstGeom prst="bentConnector2">
            <a:avLst/>
          </a:prstGeom>
          <a:ln w="19050">
            <a:solidFill>
              <a:srgbClr val="006D77"/>
            </a:solidFill>
            <a:tailEnd type="triangle" w="med" len="med"/>
          </a:ln>
        </p:spPr>
      </p:cxnSp>
      <p:sp>
        <p:nvSpPr>
          <p:cNvPr id="28" name="Yes / Operations">
            <a:extLst>
              <a:ext uri="{FF2B5EF4-FFF2-40B4-BE49-F238E27FC236}">
                <a16:creationId xmlns:a16="http://schemas.microsoft.com/office/drawing/2014/main" id="{7F2B6565-F782-4110-BCEE-C06C1A28FC30}"/>
              </a:ext>
            </a:extLst>
          </p:cNvPr>
          <p:cNvSpPr>
            <a:spLocks noGrp="1"/>
          </p:cNvSpPr>
          <p:nvPr/>
        </p:nvSpPr>
        <p:spPr>
          <a:xfrm>
            <a:off x="895350" y="5429250"/>
            <a:ext cx="2143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350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350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Yes / Operations</a:t>
            </a:r>
          </a:p>
        </p:txBody>
      </p:sp>
      <p:sp>
        <p:nvSpPr>
          <p:cNvPr id="29" name="No / Finance">
            <a:extLst>
              <a:ext uri="{FF2B5EF4-FFF2-40B4-BE49-F238E27FC236}">
                <a16:creationId xmlns:a16="http://schemas.microsoft.com/office/drawing/2014/main" id="{BE317189-71C1-4F86-B069-17AC7777C421}"/>
              </a:ext>
            </a:extLst>
          </p:cNvPr>
          <p:cNvSpPr>
            <a:spLocks noGrp="1"/>
          </p:cNvSpPr>
          <p:nvPr/>
        </p:nvSpPr>
        <p:spPr>
          <a:xfrm>
            <a:off x="6858000" y="54292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350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350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No / Finance</a:t>
            </a:r>
          </a:p>
        </p:txBody>
      </p:sp>
    </p:spTree>
    <p:extLst>
      <p:ext uri="{BB962C8B-B14F-4D97-AF65-F5344CB8AC3E}">
        <p14:creationId xmlns:p14="http://schemas.microsoft.com/office/powerpoint/2010/main" val="818039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1429C-1C13-2AE6-55A7-5EE79A111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ictional completed example   3 / 5">
            <a:extLst>
              <a:ext uri="{FF2B5EF4-FFF2-40B4-BE49-F238E27FC236}">
                <a16:creationId xmlns:a16="http://schemas.microsoft.com/office/drawing/2014/main" id="{AF360A78-5755-A779-DD5D-026A0E2B39D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Fictional completed example   3 / 5</a:t>
            </a:r>
          </a:p>
        </p:txBody>
      </p:sp>
      <p:sp>
        <p:nvSpPr>
          <p:cNvPr id="2" name="How Our Flow Works">
            <a:extLst>
              <a:ext uri="{FF2B5EF4-FFF2-40B4-BE49-F238E27FC236}">
                <a16:creationId xmlns:a16="http://schemas.microsoft.com/office/drawing/2014/main" id="{F3DAF432-D0CE-E809-196A-B8BF8BCB601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How Our Flow Works</a:t>
            </a:r>
            <a:r>
              <a:rPr lang="en-US"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 (another example)</a:t>
            </a:r>
            <a:endParaRPr sz="3150" dirty="0">
              <a:solidFill>
                <a:srgbClr val="183549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" name="Show the route from input to output. Mark steps Built, Planned or">
            <a:extLst>
              <a:ext uri="{FF2B5EF4-FFF2-40B4-BE49-F238E27FC236}">
                <a16:creationId xmlns:a16="http://schemas.microsoft.com/office/drawing/2014/main" id="{A099730F-19C6-B709-F8F7-E2C89342594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 dirty="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Show the route from input to output. Mark steps Built, Planned or Blocked.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6AEA645F-68ED-0AC7-F377-2DAB900A9F91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B331634C-5B73-22CD-4E1F-CB318FAC4C54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6" name="Flow diagram / readable screenshot">
            <a:extLst>
              <a:ext uri="{FF2B5EF4-FFF2-40B4-BE49-F238E27FC236}">
                <a16:creationId xmlns:a16="http://schemas.microsoft.com/office/drawing/2014/main" id="{73C4FA1E-AD40-2D14-B711-A563B6DAA300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Flow diagram / readable screenshot</a:t>
            </a:r>
          </a:p>
        </p:txBody>
      </p:sp>
      <p:sp>
        <p:nvSpPr>
          <p:cNvPr id="8" name="Apps / connectors">
            <a:extLst>
              <a:ext uri="{FF2B5EF4-FFF2-40B4-BE49-F238E27FC236}">
                <a16:creationId xmlns:a16="http://schemas.microsoft.com/office/drawing/2014/main" id="{B194EEA3-6581-B283-FBDC-6C45F0DEC2DE}"/>
              </a:ext>
            </a:extLst>
          </p:cNvPr>
          <p:cNvSpPr>
            <a:spLocks noGrp="1"/>
          </p:cNvSpPr>
          <p:nvPr/>
        </p:nvSpPr>
        <p:spPr>
          <a:xfrm>
            <a:off x="9010650" y="20097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Apps / connectors</a:t>
            </a:r>
          </a:p>
        </p:txBody>
      </p:sp>
      <p:sp>
        <p:nvSpPr>
          <p:cNvPr id="9" name="Microsoft Forms, Excel Online (Business),&#10;Office 365 Outlook">
            <a:extLst>
              <a:ext uri="{FF2B5EF4-FFF2-40B4-BE49-F238E27FC236}">
                <a16:creationId xmlns:a16="http://schemas.microsoft.com/office/drawing/2014/main" id="{0ED2B5FB-A493-0957-01A0-2A50F0521A95}"/>
              </a:ext>
            </a:extLst>
          </p:cNvPr>
          <p:cNvSpPr>
            <a:spLocks noGrp="1"/>
          </p:cNvSpPr>
          <p:nvPr/>
        </p:nvSpPr>
        <p:spPr>
          <a:xfrm>
            <a:off x="9010650" y="2352675"/>
            <a:ext cx="5619750" cy="8572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endParaRPr sz="1725" dirty="0">
              <a:solidFill>
                <a:srgbClr val="243B4A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0" name="Input and source">
            <a:extLst>
              <a:ext uri="{FF2B5EF4-FFF2-40B4-BE49-F238E27FC236}">
                <a16:creationId xmlns:a16="http://schemas.microsoft.com/office/drawing/2014/main" id="{A517D072-7DDD-98CC-9749-7CC942D0E8B1}"/>
              </a:ext>
            </a:extLst>
          </p:cNvPr>
          <p:cNvSpPr>
            <a:spLocks noGrp="1"/>
          </p:cNvSpPr>
          <p:nvPr/>
        </p:nvSpPr>
        <p:spPr>
          <a:xfrm>
            <a:off x="9010650" y="33813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Input and source</a:t>
            </a:r>
          </a:p>
        </p:txBody>
      </p:sp>
      <p:sp>
        <p:nvSpPr>
          <p:cNvPr id="11" name="Form fields: RequestTitle (Text), Category&#10;(single choice: Operat">
            <a:extLst>
              <a:ext uri="{FF2B5EF4-FFF2-40B4-BE49-F238E27FC236}">
                <a16:creationId xmlns:a16="http://schemas.microsoft.com/office/drawing/2014/main" id="{02011E60-0C2C-5EE5-F129-8DB54C38141C}"/>
              </a:ext>
            </a:extLst>
          </p:cNvPr>
          <p:cNvSpPr>
            <a:spLocks noGrp="1"/>
          </p:cNvSpPr>
          <p:nvPr/>
        </p:nvSpPr>
        <p:spPr>
          <a:xfrm>
            <a:off x="9010650" y="3724275"/>
            <a:ext cx="5619750" cy="11239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endParaRPr sz="1725" dirty="0">
              <a:solidFill>
                <a:srgbClr val="243B4A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2" name="Output and destination">
            <a:extLst>
              <a:ext uri="{FF2B5EF4-FFF2-40B4-BE49-F238E27FC236}">
                <a16:creationId xmlns:a16="http://schemas.microsoft.com/office/drawing/2014/main" id="{8B86AB8F-3E7E-54C2-27D4-18D4FA6B0817}"/>
              </a:ext>
            </a:extLst>
          </p:cNvPr>
          <p:cNvSpPr>
            <a:spLocks noGrp="1"/>
          </p:cNvSpPr>
          <p:nvPr/>
        </p:nvSpPr>
        <p:spPr>
          <a:xfrm>
            <a:off x="9010650" y="501967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Output and destination</a:t>
            </a:r>
          </a:p>
        </p:txBody>
      </p:sp>
      <p:sp>
        <p:nvSpPr>
          <p:cNvPr id="13" name="One RequestsTable row and one email&#10;to the approved test mailbox.">
            <a:extLst>
              <a:ext uri="{FF2B5EF4-FFF2-40B4-BE49-F238E27FC236}">
                <a16:creationId xmlns:a16="http://schemas.microsoft.com/office/drawing/2014/main" id="{B7F8A309-681C-0ACE-1F30-E9D99287FF18}"/>
              </a:ext>
            </a:extLst>
          </p:cNvPr>
          <p:cNvSpPr>
            <a:spLocks noGrp="1"/>
          </p:cNvSpPr>
          <p:nvPr/>
        </p:nvSpPr>
        <p:spPr>
          <a:xfrm>
            <a:off x="9010650" y="5362575"/>
            <a:ext cx="5619750" cy="11239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endParaRPr sz="1725" dirty="0">
              <a:solidFill>
                <a:srgbClr val="243B4A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Human decisions or checks">
            <a:extLst>
              <a:ext uri="{FF2B5EF4-FFF2-40B4-BE49-F238E27FC236}">
                <a16:creationId xmlns:a16="http://schemas.microsoft.com/office/drawing/2014/main" id="{4415AADE-65CC-B591-23C6-58A20F7B1EB1}"/>
              </a:ext>
            </a:extLst>
          </p:cNvPr>
          <p:cNvSpPr>
            <a:spLocks noGrp="1"/>
          </p:cNvSpPr>
          <p:nvPr/>
        </p:nvSpPr>
        <p:spPr>
          <a:xfrm>
            <a:off x="609600" y="667702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Human decisions or checks</a:t>
            </a:r>
          </a:p>
        </p:txBody>
      </p:sp>
      <p:sp>
        <p:nvSpPr>
          <p:cNvPr id="15" name="Member B compares each row and email with its input. No approval ">
            <a:extLst>
              <a:ext uri="{FF2B5EF4-FFF2-40B4-BE49-F238E27FC236}">
                <a16:creationId xmlns:a16="http://schemas.microsoft.com/office/drawing/2014/main" id="{AFC03DD8-2D85-F9BE-AD0C-3093D9AA2C66}"/>
              </a:ext>
            </a:extLst>
          </p:cNvPr>
          <p:cNvSpPr>
            <a:spLocks noGrp="1"/>
          </p:cNvSpPr>
          <p:nvPr/>
        </p:nvSpPr>
        <p:spPr>
          <a:xfrm>
            <a:off x="609600" y="7019925"/>
            <a:ext cx="14020800" cy="5905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endParaRPr sz="1725" dirty="0">
              <a:solidFill>
                <a:srgbClr val="243B4A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Trigger: show what starts the Flow. A hand-drawn plan is valid ev">
            <a:extLst>
              <a:ext uri="{FF2B5EF4-FFF2-40B4-BE49-F238E27FC236}">
                <a16:creationId xmlns:a16="http://schemas.microsoft.com/office/drawing/2014/main" id="{652BE7D0-192E-E6AE-F785-013FF31D7D90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 dirty="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Trigger: show what starts the Flow. A hand-drawn plan is valid even if you have not built it yet.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D375AB3-00EE-7F09-EA75-80BA7F2FD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104" y="2535508"/>
            <a:ext cx="6092896" cy="378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23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ictional completed example   4 / 5">
            <a:extLst>
              <a:ext uri="{FF2B5EF4-FFF2-40B4-BE49-F238E27FC236}">
                <a16:creationId xmlns:a16="http://schemas.microsoft.com/office/drawing/2014/main" id="{0B81AFCA-B31B-4F45-9448-FEF0E7A8812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Fictional completed example   4 / 5</a:t>
            </a:r>
          </a:p>
        </p:txBody>
      </p:sp>
      <p:sp>
        <p:nvSpPr>
          <p:cNvPr id="2" name="What We Built &amp; Tested">
            <a:extLst>
              <a:ext uri="{FF2B5EF4-FFF2-40B4-BE49-F238E27FC236}">
                <a16:creationId xmlns:a16="http://schemas.microsoft.com/office/drawing/2014/main" id="{40C504D8-3AA0-4F37-8DC3-B37C7CB6A46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What We Built &amp; Tested</a:t>
            </a:r>
          </a:p>
        </p:txBody>
      </p:sp>
      <p:sp>
        <p:nvSpPr>
          <p:cNvPr id="3" name="Compare expected and actual results. A successful run can still p">
            <a:extLst>
              <a:ext uri="{FF2B5EF4-FFF2-40B4-BE49-F238E27FC236}">
                <a16:creationId xmlns:a16="http://schemas.microsoft.com/office/drawing/2014/main" id="{86F82F95-73C9-4168-806A-9A7FC4A853A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Compare expected and actual results. A successful run can still produce the wrong output.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4A03EDF4-4B7A-400E-BB3A-7212BA03A7F5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13">
            <a:extLst>
              <a:ext uri="{FF2B5EF4-FFF2-40B4-BE49-F238E27FC236}">
                <a16:creationId xmlns:a16="http://schemas.microsoft.com/office/drawing/2014/main" id="{4AC51B93-61FA-4C3F-A78A-A76DECF3AA9A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6" name="Built so far / incomplete / last tested">
            <a:extLst>
              <a:ext uri="{FF2B5EF4-FFF2-40B4-BE49-F238E27FC236}">
                <a16:creationId xmlns:a16="http://schemas.microsoft.com/office/drawing/2014/main" id="{DD446C5E-23AC-4C78-B389-4E1246E6F751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Built so far / incomplete / last tested</a:t>
            </a:r>
          </a:p>
        </p:txBody>
      </p:sp>
      <p:sp>
        <p:nvSpPr>
          <p:cNvPr id="7" name="Built: all steps. Incomplete: routing verification. Last tested: ">
            <a:extLst>
              <a:ext uri="{FF2B5EF4-FFF2-40B4-BE49-F238E27FC236}">
                <a16:creationId xmlns:a16="http://schemas.microsoft.com/office/drawing/2014/main" id="{21078880-8F22-4E70-8500-3AFB2C80AB29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4020800" cy="7810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Built: all steps. Incomplete: routing verification. Last tested: 10 November 2026.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7E1057-EAC2-4D86-983B-C4D9A15AF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0482374"/>
              </p:ext>
            </p:extLst>
          </p:nvPr>
        </p:nvGraphicFramePr>
        <p:xfrm>
          <a:off x="609600" y="3381375"/>
          <a:ext cx="14020800" cy="27432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Test / sample input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Expected result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Actual result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Run status / date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Evidence ref.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T01: Training handout</a:t>
                      </a:r>
                    </a:p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Category: Operations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 Operations row</a:t>
                      </a:r>
                    </a:p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 Operations email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Expected row and</a:t>
                      </a:r>
                    </a:p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email observed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TH"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✅</a:t>
                      </a:r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Succeeded</a:t>
                      </a:r>
                    </a:p>
                    <a:p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10 Nov 2026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E01: illustrative</a:t>
                      </a:r>
                    </a:p>
                    <a:p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text only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T02: Training budget</a:t>
                      </a:r>
                    </a:p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Category: Finance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 Finance row</a:t>
                      </a:r>
                    </a:p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 Finance email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Correct Finance row</a:t>
                      </a:r>
                    </a:p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Operations email label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TH"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✅</a:t>
                      </a:r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Succeeded</a:t>
                      </a:r>
                    </a:p>
                    <a:p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10 Nov 2026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E02: illustrative</a:t>
                      </a:r>
                    </a:p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text only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T03: Repeat submission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Not defined yet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Not yet tested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TH"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🟡</a:t>
                      </a:r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Not run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dirty="0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evidence yet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What has not been tested yet?">
            <a:extLst>
              <a:ext uri="{FF2B5EF4-FFF2-40B4-BE49-F238E27FC236}">
                <a16:creationId xmlns:a16="http://schemas.microsoft.com/office/drawing/2014/main" id="{BC00BE51-C6B2-4732-922F-52704300D906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What has not been tested yet?</a:t>
            </a:r>
          </a:p>
        </p:txBody>
      </p:sp>
      <p:sp>
        <p:nvSpPr>
          <p:cNvPr id="10" name="Repeat submissions, missing values and another authorised account">
            <a:extLst>
              <a:ext uri="{FF2B5EF4-FFF2-40B4-BE49-F238E27FC236}">
                <a16:creationId xmlns:a16="http://schemas.microsoft.com/office/drawing/2014/main" id="{3E10337F-0F4A-48E9-AE7D-B5C15DF07E97}"/>
              </a:ext>
            </a:extLst>
          </p:cNvPr>
          <p:cNvSpPr>
            <a:spLocks noGrp="1"/>
          </p:cNvSpPr>
          <p:nvPr/>
        </p:nvSpPr>
        <p:spPr>
          <a:xfrm>
            <a:off x="609600" y="6715125"/>
            <a:ext cx="14020800" cy="84772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Repeat submissions, missing values and another authorised account. Retest after a verified correction.</a:t>
            </a:r>
          </a:p>
        </p:txBody>
      </p:sp>
      <p:sp>
        <p:nvSpPr>
          <p:cNvPr id="11" name="Add labelled screenshots or output excerpts in Appendix B. Unknow">
            <a:extLst>
              <a:ext uri="{FF2B5EF4-FFF2-40B4-BE49-F238E27FC236}">
                <a16:creationId xmlns:a16="http://schemas.microsoft.com/office/drawing/2014/main" id="{B5A5CCAE-71E4-4EFC-9645-412228CAEB37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Add labelled screenshots or output excerpts in Appendix B. Unknown and No evidence yet are valid responses.</a:t>
            </a:r>
          </a:p>
        </p:txBody>
      </p:sp>
    </p:spTree>
    <p:extLst>
      <p:ext uri="{BB962C8B-B14F-4D97-AF65-F5344CB8AC3E}">
        <p14:creationId xmlns:p14="http://schemas.microsoft.com/office/powerpoint/2010/main" val="119759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ictional completed example   5 / 5">
            <a:extLst>
              <a:ext uri="{FF2B5EF4-FFF2-40B4-BE49-F238E27FC236}">
                <a16:creationId xmlns:a16="http://schemas.microsoft.com/office/drawing/2014/main" id="{7A90899B-675F-4358-B314-DF461A195D4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4020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275">
                <a:solidFill>
                  <a:srgbClr val="006D77"/>
                </a:solidFill>
                <a:latin typeface="Avenir Next Demi Bold"/>
                <a:ea typeface="Avenir Next Demi Bold"/>
                <a:cs typeface="Avenir Next Demi Bold"/>
              </a:rPr>
              <a:t>Fictional completed example   5 / 5</a:t>
            </a:r>
          </a:p>
        </p:txBody>
      </p:sp>
      <p:sp>
        <p:nvSpPr>
          <p:cNvPr id="2" name="Our Main Blocker">
            <a:extLst>
              <a:ext uri="{FF2B5EF4-FFF2-40B4-BE49-F238E27FC236}">
                <a16:creationId xmlns:a16="http://schemas.microsoft.com/office/drawing/2014/main" id="{8DBF1BBF-7C7B-401B-B9B4-926E69C350A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4020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31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Our Main Blocker</a:t>
            </a:r>
            <a:r>
              <a:rPr lang="en-US" sz="3150" dirty="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 (1)</a:t>
            </a:r>
            <a:endParaRPr sz="3150" dirty="0">
              <a:solidFill>
                <a:srgbClr val="183549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" name="Describe one issue. If there is no blocker, describe a limitation">
            <a:extLst>
              <a:ext uri="{FF2B5EF4-FFF2-40B4-BE49-F238E27FC236}">
                <a16:creationId xmlns:a16="http://schemas.microsoft.com/office/drawing/2014/main" id="{8C1BC618-48B2-47E8-AFAE-DDF81A5B24A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402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Describe one issue. If there is no blocker, describe a limitation or desired improvement.</a:t>
            </a:r>
          </a:p>
        </p:txBody>
      </p:sp>
      <p:sp>
        <p:nvSpPr>
          <p:cNvPr id="4" name="Project Refinement • Batch 2 Operations">
            <a:extLst>
              <a:ext uri="{FF2B5EF4-FFF2-40B4-BE49-F238E27FC236}">
                <a16:creationId xmlns:a16="http://schemas.microsoft.com/office/drawing/2014/main" id="{3D9ADA54-C7D0-4378-B486-7BD85BAA1D0B}"/>
              </a:ext>
            </a:extLst>
          </p:cNvPr>
          <p:cNvSpPr>
            <a:spLocks noGrp="1"/>
          </p:cNvSpPr>
          <p:nvPr/>
        </p:nvSpPr>
        <p:spPr>
          <a:xfrm>
            <a:off x="609600" y="8172450"/>
            <a:ext cx="1238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Project Refinement • Batch 2 Operations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A5C6BDD5-E167-4C78-BD6B-F3FC10CACFC2}"/>
              </a:ext>
            </a:extLst>
          </p:cNvPr>
          <p:cNvSpPr>
            <a:spLocks noGrp="1"/>
          </p:cNvSpPr>
          <p:nvPr/>
        </p:nvSpPr>
        <p:spPr>
          <a:xfrm>
            <a:off x="13906500" y="8143875"/>
            <a:ext cx="723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6" name="Blocker / improvement title">
            <a:extLst>
              <a:ext uri="{FF2B5EF4-FFF2-40B4-BE49-F238E27FC236}">
                <a16:creationId xmlns:a16="http://schemas.microsoft.com/office/drawing/2014/main" id="{981B1340-E4E1-4F9A-B066-37A20456C03E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Blocker / improvement title</a:t>
            </a:r>
          </a:p>
        </p:txBody>
      </p:sp>
      <p:sp>
        <p:nvSpPr>
          <p:cNvPr id="7" name="Finance input receives an Operations email label">
            <a:extLst>
              <a:ext uri="{FF2B5EF4-FFF2-40B4-BE49-F238E27FC236}">
                <a16:creationId xmlns:a16="http://schemas.microsoft.com/office/drawing/2014/main" id="{3F003AE2-C690-4D56-9FE6-E26693881426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762750" cy="6096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Finance input receives an Operations email label</a:t>
            </a:r>
          </a:p>
        </p:txBody>
      </p:sp>
      <p:sp>
        <p:nvSpPr>
          <p:cNvPr id="8" name="Exact location and impact">
            <a:extLst>
              <a:ext uri="{FF2B5EF4-FFF2-40B4-BE49-F238E27FC236}">
                <a16:creationId xmlns:a16="http://schemas.microsoft.com/office/drawing/2014/main" id="{68790186-0DDC-4A5D-B3BE-ED0A26415D9F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Exact location and impact</a:t>
            </a:r>
          </a:p>
        </p:txBody>
      </p:sp>
      <p:sp>
        <p:nvSpPr>
          <p:cNvPr id="9" name="Condition / emails. Cause: Unknown. Routing untrusted.">
            <a:extLst>
              <a:ext uri="{FF2B5EF4-FFF2-40B4-BE49-F238E27FC236}">
                <a16:creationId xmlns:a16="http://schemas.microsoft.com/office/drawing/2014/main" id="{D1F30EB3-A49D-4779-A5E1-CA853718EE99}"/>
              </a:ext>
            </a:extLst>
          </p:cNvPr>
          <p:cNvSpPr>
            <a:spLocks noGrp="1"/>
          </p:cNvSpPr>
          <p:nvPr/>
        </p:nvSpPr>
        <p:spPr>
          <a:xfrm>
            <a:off x="7677150" y="2352675"/>
            <a:ext cx="6953250" cy="6096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Condition / emails. Cause: Unknown. Routing untrusted.</a:t>
            </a:r>
          </a:p>
        </p:txBody>
      </p:sp>
      <p:sp>
        <p:nvSpPr>
          <p:cNvPr id="10" name="Reproduction steps and frequency">
            <a:extLst>
              <a:ext uri="{FF2B5EF4-FFF2-40B4-BE49-F238E27FC236}">
                <a16:creationId xmlns:a16="http://schemas.microsoft.com/office/drawing/2014/main" id="{0C86399F-5E52-4ADC-9500-EA640E57AA36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Reproduction steps and frequency</a:t>
            </a:r>
          </a:p>
        </p:txBody>
      </p:sp>
      <p:sp>
        <p:nvSpPr>
          <p:cNvPr id="11" name="1. Submit Training budget, Category = Finance.&#10;2. Compare its tra">
            <a:extLst>
              <a:ext uri="{FF2B5EF4-FFF2-40B4-BE49-F238E27FC236}">
                <a16:creationId xmlns:a16="http://schemas.microsoft.com/office/drawing/2014/main" id="{3CFF0115-1900-4A77-9CF1-A7DF5E82E77A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6762750" cy="167640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1. Submit Training budget, Category = Finance.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2. Compare its tracker row and email label.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Observed: 1 of 1 Finance tests. Repeatability Unknown.</a:t>
            </a:r>
          </a:p>
        </p:txBody>
      </p:sp>
      <p:sp>
        <p:nvSpPr>
          <p:cNvPr id="12" name="Expected versus actual">
            <a:extLst>
              <a:ext uri="{FF2B5EF4-FFF2-40B4-BE49-F238E27FC236}">
                <a16:creationId xmlns:a16="http://schemas.microsoft.com/office/drawing/2014/main" id="{6349C933-674E-4F18-8DC1-38F25FB4615A}"/>
              </a:ext>
            </a:extLst>
          </p:cNvPr>
          <p:cNvSpPr>
            <a:spLocks noGrp="1"/>
          </p:cNvSpPr>
          <p:nvPr/>
        </p:nvSpPr>
        <p:spPr>
          <a:xfrm>
            <a:off x="7677150" y="3143250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Expected versus actual</a:t>
            </a:r>
          </a:p>
        </p:txBody>
      </p:sp>
      <p:sp>
        <p:nvSpPr>
          <p:cNvPr id="13" name="T02: expected Finance label, received Operations.">
            <a:extLst>
              <a:ext uri="{FF2B5EF4-FFF2-40B4-BE49-F238E27FC236}">
                <a16:creationId xmlns:a16="http://schemas.microsoft.com/office/drawing/2014/main" id="{4F7841A1-F7C4-496D-AA0B-06F0688D1D7D}"/>
              </a:ext>
            </a:extLst>
          </p:cNvPr>
          <p:cNvSpPr>
            <a:spLocks noGrp="1"/>
          </p:cNvSpPr>
          <p:nvPr/>
        </p:nvSpPr>
        <p:spPr>
          <a:xfrm>
            <a:off x="7677150" y="3486150"/>
            <a:ext cx="6953250" cy="590550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T02: expected Finance label, received Operations.</a:t>
            </a:r>
          </a:p>
        </p:txBody>
      </p:sp>
      <p:sp>
        <p:nvSpPr>
          <p:cNvPr id="14" name="Error text or symptom">
            <a:extLst>
              <a:ext uri="{FF2B5EF4-FFF2-40B4-BE49-F238E27FC236}">
                <a16:creationId xmlns:a16="http://schemas.microsoft.com/office/drawing/2014/main" id="{2026997B-9973-4CBC-9C53-BD862DB51815}"/>
              </a:ext>
            </a:extLst>
          </p:cNvPr>
          <p:cNvSpPr>
            <a:spLocks noGrp="1"/>
          </p:cNvSpPr>
          <p:nvPr/>
        </p:nvSpPr>
        <p:spPr>
          <a:xfrm>
            <a:off x="7677150" y="4267200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Error text or symptom</a:t>
            </a:r>
          </a:p>
        </p:txBody>
      </p:sp>
      <p:sp>
        <p:nvSpPr>
          <p:cNvPr id="15" name="No error message. Run: Succeeded.&#10;Finance tracker row is correct,">
            <a:extLst>
              <a:ext uri="{FF2B5EF4-FFF2-40B4-BE49-F238E27FC236}">
                <a16:creationId xmlns:a16="http://schemas.microsoft.com/office/drawing/2014/main" id="{A50CD708-EEE6-44C4-9123-04D59A9C896E}"/>
              </a:ext>
            </a:extLst>
          </p:cNvPr>
          <p:cNvSpPr>
            <a:spLocks noGrp="1"/>
          </p:cNvSpPr>
          <p:nvPr/>
        </p:nvSpPr>
        <p:spPr>
          <a:xfrm>
            <a:off x="7677150" y="4610100"/>
            <a:ext cx="6953250" cy="1019175"/>
          </a:xfrm>
          <a:prstGeom prst="rect">
            <a:avLst/>
          </a:prstGeom>
          <a:solidFill>
            <a:srgbClr val="F2F6F8"/>
          </a:solidFill>
          <a:ln w="0">
            <a:noFill/>
          </a:ln>
        </p:spPr>
        <p:txBody>
          <a:bodyPr wrap="square" lIns="114300" tIns="114300" rIns="114300" bIns="114300" anchor="t">
            <a:noAutofit/>
          </a:bodyPr>
          <a:lstStyle>
            <a:def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No error message. Run: Succeeded.</a:t>
            </a:r>
          </a:p>
          <a:p>
            <a:pPr>
              <a:def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243B4A"/>
                </a:solidFill>
                <a:latin typeface="Avenir Next"/>
                <a:ea typeface="Avenir Next"/>
                <a:cs typeface="Avenir Next"/>
              </a:rPr>
              <a:t>Finance tracker row is correct, but email label is wrong.</a:t>
            </a:r>
          </a:p>
        </p:txBody>
      </p:sp>
      <p:sp>
        <p:nvSpPr>
          <p:cNvPr id="16" name="Fixes attempted and results">
            <a:extLst>
              <a:ext uri="{FF2B5EF4-FFF2-40B4-BE49-F238E27FC236}">
                <a16:creationId xmlns:a16="http://schemas.microsoft.com/office/drawing/2014/main" id="{2E5C1E93-FEA6-482F-8443-470F1948987F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4020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>
            <a:pPr>
              <a:def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650">
                <a:solidFill>
                  <a:srgbClr val="183549"/>
                </a:solidFill>
                <a:latin typeface="Avenir Next Demi Bold"/>
                <a:ea typeface="Avenir Next Demi Bold"/>
                <a:cs typeface="Avenir Next Demi Bold"/>
              </a:rPr>
              <a:t>Fixes attempted and results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E741BB5-4D9F-4CFC-9383-4BB702897CC6}"/>
              </a:ext>
            </a:extLst>
          </p:cNvPr>
          <p:cNvGraphicFramePr/>
          <p:nvPr/>
        </p:nvGraphicFramePr>
        <p:xfrm>
          <a:off x="609600" y="6191250"/>
          <a:ext cx="14020800" cy="1381126"/>
        </p:xfrm>
        <a:graphic>
          <a:graphicData uri="http://schemas.openxmlformats.org/drawingml/2006/table">
            <a:tbl>
              <a:tblPr/>
              <a:tblGrid>
                <a:gridCol w="7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Change tried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Result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83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Reviewed the received email subject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Wrong label confirmed. Cause remains Unknown.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further fix attempted</a:t>
                      </a:r>
                    </a:p>
                  </a:txBody>
                  <a:tcPr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43B4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Not applicable</a:t>
                      </a:r>
                    </a:p>
                  </a:txBody>
                  <a:tcPr>
                    <a:lnL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 cap="flat" cmpd="sng" algn="ctr">
                      <a:solidFill>
                        <a:srgbClr val="C9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Cannot start? Describe the first blocked step or access message. ">
            <a:extLst>
              <a:ext uri="{FF2B5EF4-FFF2-40B4-BE49-F238E27FC236}">
                <a16:creationId xmlns:a16="http://schemas.microsoft.com/office/drawing/2014/main" id="{2026C01B-3A85-40F1-AAFB-1091BF87E8CE}"/>
              </a:ext>
            </a:extLst>
          </p:cNvPr>
          <p:cNvSpPr>
            <a:spLocks noGrp="1"/>
          </p:cNvSpPr>
          <p:nvPr/>
        </p:nvSpPr>
        <p:spPr>
          <a:xfrm>
            <a:off x="609600" y="7743825"/>
            <a:ext cx="1402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86B78"/>
                </a:solidFill>
                <a:latin typeface="Avenir Next"/>
                <a:ea typeface="Avenir Next"/>
                <a:cs typeface="Avenir Next"/>
              </a:rPr>
              <a:t>Cannot start? Describe the first blocked step or access message. Put additional issues in Appendix A.</a:t>
            </a:r>
          </a:p>
        </p:txBody>
      </p:sp>
    </p:spTree>
    <p:extLst>
      <p:ext uri="{BB962C8B-B14F-4D97-AF65-F5344CB8AC3E}">
        <p14:creationId xmlns:p14="http://schemas.microsoft.com/office/powerpoint/2010/main" val="8133003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2224</Words>
  <Application>Microsoft Macintosh PowerPoint</Application>
  <DocSecurity>0</DocSecurity>
  <PresentationFormat>Custom</PresentationFormat>
  <Paragraphs>343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Avenir Next</vt:lpstr>
      <vt:lpstr>Avenir Next Demi Bold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Teerasej Jiraphatchandej</cp:lastModifiedBy>
  <cp:revision>7</cp:revision>
  <dcterms:created xsi:type="dcterms:W3CDTF">2026-10-16T03:17:36Z</dcterms:created>
  <dcterms:modified xsi:type="dcterms:W3CDTF">2026-10-16T03:29:48Z</dcterms:modified>
</cp:coreProperties>
</file>